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19"/>
    <p:sldId id="260" r:id="rId6"/>
    <p:sldId id="261" r:id="rId7"/>
    <p:sldId id="262" r:id="rId8"/>
    <p:sldId id="269" r:id="rId20"/>
    <p:sldId id="263" r:id="rId9"/>
    <p:sldId id="264" r:id="rId10"/>
    <p:sldId id="270" r:id="rId21"/>
    <p:sldId id="265" r:id="rId11"/>
    <p:sldId id="266" r:id="rId12"/>
    <p:sldId id="267" r:id="rId1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852AAB04-2EE7-7EA9-1002-DF913E7684DA}">
          <p14:sldIdLst>
            <p14:sldId id="256"/>
          </p14:sldIdLst>
        </p14:section>
        <p14:section name="背景" id="{58F99C2E-36EA-55EA-59EA-ECBA4ED01E4F}">
          <p14:sldIdLst>
            <p14:sldId id="257"/>
          </p14:sldIdLst>
        </p14:section>
        <p14:section name="変更点" id="{D7F91554-4AA4-C30D-871F-F7EABDF9DB05}">
          <p14:sldIdLst>
            <p14:sldId id="258"/>
            <p14:sldId id="259"/>
          </p14:sldIdLst>
        </p14:section>
        <p14:section name="できること" id="{3887F2BD-DC71-119D-544F-4AFCBBE627CF}">
          <p14:sldIdLst>
            <p14:sldId id="260"/>
            <p14:sldId id="261"/>
            <p14:sldId id="262"/>
            <p14:sldId id="263"/>
            <p14:sldId id="264"/>
          </p14:sldIdLst>
        </p14:section>
        <p14:section name="まとめ" id="{3A9CB845-75A0-EACB-8B18-183D6516A039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これまで管理者が担っていた作業を5つに整理。シフト希望の提出から作成、報告書の提出まで、すべて管理者を経由していた点が問題。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「これまで」の列は実態に合わせて調整してください。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URL: https://hinata0220.github.io/ast_patrol/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669280" y="228600"/>
            <a:ext cx="3200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2057400"/>
            <a:ext cx="84124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365760" y="4069080"/>
            <a:ext cx="8412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989320"/>
            <a:ext cx="914400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stpatrolstudent-dev.github.io/patrol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L1" Type="http://schemas.openxmlformats.org/officeDocument/2006/relationships/image" Target="../media/links_card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nput_tab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needs_card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669280" y="228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AST パトロール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2026 / 10 / 13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2057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パトロールシフト管理サイトの導入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- シフト希望・シフト作成・報告書づくりを、ひとつのサイトで -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365760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platform clover パトロール業務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蔵本 陽向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背景：管理者の負担が大きかった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やり取りと手作業が、管理者ひとりに集中していた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パトロールの運営に関わる作業が、ほぼすべて管理者に集まっていました。</a:t>
            </a:r>
            <a:endParaRPr lang="en-US" sz="1600" dirty="0"/>
          </a:p>
        </p:txBody>
      </p:sp>
      <p:sp>
        <p:nvSpPr>
          <p:cNvPr id="5" name="leftCard"/>
          <p:cNvSpPr/>
          <p:nvPr/>
        </p:nvSpPr>
        <p:spPr>
          <a:xfrm>
            <a:off x="274320" y="1325880"/>
            <a:ext cx="3017520" cy="3429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member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292608" cy="292608"/>
          </a:xfrm>
          <a:prstGeom prst="rect">
            <a:avLst/>
          </a:prstGeom>
        </p:spPr>
      </p:pic>
      <p:pic>
        <p:nvPicPr>
          <p:cNvPr id="7" name="member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1572768"/>
            <a:ext cx="292608" cy="292608"/>
          </a:xfrm>
          <a:prstGeom prst="rect">
            <a:avLst/>
          </a:prstGeom>
        </p:spPr>
      </p:pic>
      <p:pic>
        <p:nvPicPr>
          <p:cNvPr id="8" name="member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572768"/>
            <a:ext cx="292608" cy="292608"/>
          </a:xfrm>
          <a:prstGeom prst="rect">
            <a:avLst/>
          </a:prstGeom>
        </p:spPr>
      </p:pic>
      <p:pic>
        <p:nvPicPr>
          <p:cNvPr id="9" name="member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1572768"/>
            <a:ext cx="292608" cy="292608"/>
          </a:xfrm>
          <a:prstGeom prst="rect">
            <a:avLst/>
          </a:prstGeom>
        </p:spPr>
      </p:pic>
      <p:pic>
        <p:nvPicPr>
          <p:cNvPr id="10" name="member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84248"/>
            <a:ext cx="292608" cy="292608"/>
          </a:xfrm>
          <a:prstGeom prst="rect">
            <a:avLst/>
          </a:prstGeom>
        </p:spPr>
      </p:pic>
      <p:pic>
        <p:nvPicPr>
          <p:cNvPr id="11" name="member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1984248"/>
            <a:ext cx="292608" cy="292608"/>
          </a:xfrm>
          <a:prstGeom prst="rect">
            <a:avLst/>
          </a:prstGeom>
        </p:spPr>
      </p:pic>
      <p:pic>
        <p:nvPicPr>
          <p:cNvPr id="12" name="member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984248"/>
            <a:ext cx="292608" cy="292608"/>
          </a:xfrm>
          <a:prstGeom prst="rect">
            <a:avLst/>
          </a:prstGeom>
        </p:spPr>
      </p:pic>
      <p:pic>
        <p:nvPicPr>
          <p:cNvPr id="13" name="member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1984248"/>
            <a:ext cx="292608" cy="292608"/>
          </a:xfrm>
          <a:prstGeom prst="rect">
            <a:avLst/>
          </a:prstGeom>
        </p:spPr>
      </p:pic>
      <p:sp>
        <p:nvSpPr>
          <p:cNvPr id="14" name="Text 4"/>
          <p:cNvSpPr txBox="1"/>
          <p:nvPr/>
        </p:nvSpPr>
        <p:spPr>
          <a:xfrm>
            <a:off x="2743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メンバー 8人</a:t>
            </a:r>
            <a:endParaRPr lang="en-US" sz="1300" dirty="0"/>
          </a:p>
        </p:txBody>
      </p:sp>
      <p:pic>
        <p:nvPicPr>
          <p:cNvPr id="15" name="dow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776" y="2743200"/>
            <a:ext cx="292608" cy="292608"/>
          </a:xfrm>
          <a:prstGeom prst="rect">
            <a:avLst/>
          </a:prstGeom>
        </p:spPr>
      </p:pic>
      <p:sp>
        <p:nvSpPr>
          <p:cNvPr id="16" name="mgrCircle"/>
          <p:cNvSpPr/>
          <p:nvPr/>
        </p:nvSpPr>
        <p:spPr>
          <a:xfrm>
            <a:off x="1371600" y="3154680"/>
            <a:ext cx="822960" cy="822960"/>
          </a:xfrm>
          <a:prstGeom prst="ellipse">
            <a:avLst/>
          </a:prstGeom>
          <a:solidFill>
            <a:srgbClr val="FBEAE8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mgr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355848"/>
            <a:ext cx="420624" cy="420624"/>
          </a:xfrm>
          <a:prstGeom prst="rect">
            <a:avLst/>
          </a:prstGeom>
        </p:spPr>
      </p:pic>
      <p:sp>
        <p:nvSpPr>
          <p:cNvPr id="18" name="Text 6"/>
          <p:cNvSpPr txBox="1"/>
          <p:nvPr/>
        </p:nvSpPr>
        <p:spPr>
          <a:xfrm>
            <a:off x="27432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管理者</a:t>
            </a:r>
            <a:endParaRPr lang="en-US" sz="1500" dirty="0"/>
          </a:p>
        </p:txBody>
      </p:sp>
      <p:sp>
        <p:nvSpPr>
          <p:cNvPr id="19" name="Text 7"/>
          <p:cNvSpPr txBox="1"/>
          <p:nvPr/>
        </p:nvSpPr>
        <p:spPr>
          <a:xfrm>
            <a:off x="274320" y="4370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希望・報告・書類が すべて集まる</a:t>
            </a:r>
            <a:endParaRPr lang="en-US" sz="1200" dirty="0"/>
          </a:p>
        </p:txBody>
      </p:sp>
      <p:sp>
        <p:nvSpPr>
          <p:cNvPr id="20" name="task0"/>
          <p:cNvSpPr/>
          <p:nvPr/>
        </p:nvSpPr>
        <p:spPr>
          <a:xfrm>
            <a:off x="3566160" y="1325880"/>
            <a:ext cx="530352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1" name="taskIcon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481328"/>
            <a:ext cx="283464" cy="283464"/>
          </a:xfrm>
          <a:prstGeom prst="rect">
            <a:avLst/>
          </a:prstGeom>
        </p:spPr>
      </p:pic>
      <p:sp>
        <p:nvSpPr>
          <p:cNvPr id="22" name="Text 9"/>
          <p:cNvSpPr txBox="1"/>
          <p:nvPr/>
        </p:nvSpPr>
        <p:spPr>
          <a:xfrm>
            <a:off x="4206240" y="1399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シフト希望を集める</a:t>
            </a:r>
            <a:endParaRPr lang="en-US" sz="1500" dirty="0"/>
          </a:p>
        </p:txBody>
      </p:sp>
      <p:sp>
        <p:nvSpPr>
          <p:cNvPr id="23" name="Text 10"/>
          <p:cNvSpPr txBox="1"/>
          <p:nvPr/>
        </p:nvSpPr>
        <p:spPr>
          <a:xfrm>
            <a:off x="4206240" y="16550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LINEの投票機能で集め、結果を読み取る</a:t>
            </a:r>
            <a:endParaRPr lang="en-US" sz="1200" dirty="0"/>
          </a:p>
        </p:txBody>
      </p:sp>
      <p:sp>
        <p:nvSpPr>
          <p:cNvPr id="24" name="task1"/>
          <p:cNvSpPr/>
          <p:nvPr/>
        </p:nvSpPr>
        <p:spPr>
          <a:xfrm>
            <a:off x="3566160" y="2029968"/>
            <a:ext cx="530352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taskIcon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2185416"/>
            <a:ext cx="283464" cy="283464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420624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シフトを組む</a:t>
            </a:r>
            <a:endParaRPr lang="en-US" sz="1500" dirty="0"/>
          </a:p>
        </p:txBody>
      </p:sp>
      <p:sp>
        <p:nvSpPr>
          <p:cNvPr id="27" name="Text 13"/>
          <p:cNvSpPr txBox="1"/>
          <p:nvPr/>
        </p:nvSpPr>
        <p:spPr>
          <a:xfrm>
            <a:off x="4206240" y="2359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偏りや連続がないよう手で調整する</a:t>
            </a:r>
            <a:endParaRPr lang="en-US" sz="1200" dirty="0"/>
          </a:p>
        </p:txBody>
      </p:sp>
      <p:sp>
        <p:nvSpPr>
          <p:cNvPr id="28" name="task2"/>
          <p:cNvSpPr/>
          <p:nvPr/>
        </p:nvSpPr>
        <p:spPr>
          <a:xfrm>
            <a:off x="3566160" y="2734056"/>
            <a:ext cx="530352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9" name="taskIcon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2889504"/>
            <a:ext cx="283464" cy="283464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4206240" y="2807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毎日の実施を確認する</a:t>
            </a:r>
            <a:endParaRPr lang="en-US" sz="1500" dirty="0"/>
          </a:p>
        </p:txBody>
      </p:sp>
      <p:sp>
        <p:nvSpPr>
          <p:cNvPr id="31" name="Text 16"/>
          <p:cNvSpPr txBox="1"/>
          <p:nvPr/>
        </p:nvSpPr>
        <p:spPr>
          <a:xfrm>
            <a:off x="4206240" y="3063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スプレッドシートの完了報告に漏れがないか</a:t>
            </a:r>
            <a:endParaRPr lang="en-US" sz="1200" dirty="0"/>
          </a:p>
        </p:txBody>
      </p:sp>
      <p:sp>
        <p:nvSpPr>
          <p:cNvPr id="32" name="task3"/>
          <p:cNvSpPr/>
          <p:nvPr/>
        </p:nvSpPr>
        <p:spPr>
          <a:xfrm>
            <a:off x="3566160" y="3438144"/>
            <a:ext cx="530352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3" name="taskIcon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3593592"/>
            <a:ext cx="283464" cy="283464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4206240" y="35112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活動実績をまとめる</a:t>
            </a:r>
            <a:endParaRPr lang="en-US" sz="1500" dirty="0"/>
          </a:p>
        </p:txBody>
      </p:sp>
      <p:sp>
        <p:nvSpPr>
          <p:cNvPr id="35" name="Text 19"/>
          <p:cNvSpPr txBox="1"/>
          <p:nvPr/>
        </p:nvSpPr>
        <p:spPr>
          <a:xfrm>
            <a:off x="4206240" y="3767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月末に日付・担当・回数を集計する</a:t>
            </a:r>
            <a:endParaRPr lang="en-US" sz="1200" dirty="0"/>
          </a:p>
        </p:txBody>
      </p:sp>
      <p:sp>
        <p:nvSpPr>
          <p:cNvPr id="36" name="task4"/>
          <p:cNvSpPr/>
          <p:nvPr/>
        </p:nvSpPr>
        <p:spPr>
          <a:xfrm>
            <a:off x="3566160" y="4142232"/>
            <a:ext cx="530352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7" name="taskIcon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040" y="4297680"/>
            <a:ext cx="283464" cy="283464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4206240" y="4215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業務報告書を集める</a:t>
            </a:r>
            <a:endParaRPr lang="en-US" sz="1500" dirty="0"/>
          </a:p>
        </p:txBody>
      </p:sp>
      <p:sp>
        <p:nvSpPr>
          <p:cNvPr id="39" name="Text 22"/>
          <p:cNvSpPr txBox="1"/>
          <p:nvPr/>
        </p:nvSpPr>
        <p:spPr>
          <a:xfrm>
            <a:off x="4206240" y="44714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パトロール以外の業務の報告書づくり</a:t>
            </a:r>
            <a:endParaRPr lang="en-US" sz="1200" dirty="0"/>
          </a:p>
        </p:txBody>
      </p:sp>
      <p:sp>
        <p:nvSpPr>
          <p:cNvPr id="40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45720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メンバーが増えるほど、管理者の作業も増えていく仕組みでした。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chemeClr val="tx1"/>
                </a:solidFill>
              </a:rPr>
              <a:t>これらをもっと簡潔に、簡単に回せる形にしたい、というのが今回の目的です</a:t>
            </a:r>
            <a:r>
              <a:rPr lang="en-US" sz="1300" dirty="0">
                <a:solidFill>
                  <a:schemeClr val="tx1"/>
                </a:solidFill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何が変わるか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管理者がやっていた作業を、サイトが肩代わりします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6つの作業すべてを、ひとつのサイトで完結できるようにしました。</a:t>
            </a:r>
            <a:endParaRPr lang="en-US" sz="1600" dirty="0"/>
          </a:p>
        </p:txBody>
      </p:sp>
      <p:graphicFrame>
        <p:nvGraphicFramePr>
          <p:cNvPr id="5" name="beforeAf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624514"/>
              </p:ext>
            </p:extLst>
          </p:nvPr>
        </p:nvGraphicFramePr>
        <p:xfrm>
          <a:off x="274320" y="1325880"/>
          <a:ext cx="8595360" cy="340156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9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作業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これまで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これから（サイト）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シフト希望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LINEの投票機能で集める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各自がサイトで〇△×を回答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シフト作成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管理者が手で組む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全員そろうと自動で作成 → 確認して確定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完了報告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スプレッドシートに記入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各自がボタン1つで報告／22時にリマインド（今後検討予定）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パトロール記録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Excel（OneDrive）に手で追記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入力タブから記録 → マスタデータに自動で追記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活動実績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管理者が月末に集計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ボタン1つで PDF とスプレッドシートを出力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※</a:t>
                      </a:r>
                      <a:r>
                        <a:rPr lang="en-US" sz="1300" b="1" dirty="0" err="1">
                          <a:solidFill>
                            <a:srgbClr val="000000"/>
                          </a:solidFill>
                        </a:rPr>
                        <a:t>業務報告書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Excelを個別に作成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サイトに入力 → PDF と Excel を出力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管理者の仕事は「下書きを確認して確定する」「月末にボタンを押す」の2つだけになります。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chemeClr val="tx1"/>
                </a:solidFill>
              </a:rPr>
              <a:t>シフトの確定や出力は誰でもできるので、管理者が体調不良でも回ります</a:t>
            </a:r>
            <a:r>
              <a:rPr lang="en-US" sz="1300" dirty="0">
                <a:solidFill>
                  <a:schemeClr val="tx1"/>
                </a:solidFill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サイトの全体像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/>
              <a:t>パトロールした内容も、サイトの「入力」タブから記録できます</a:t>
            </a:r>
            <a:r>
              <a:rPr lang="en-US" sz="1600" dirty="0"/>
              <a:t/>
            </a:r>
            <a:r>
              <a:rPr lang="en-US" sz="1600" dirty="0" err="1"/>
              <a:t/>
            </a:r>
            <a:endParaRPr lang="en-US" sz="1600" dirty="0"/>
          </a:p>
        </p:txBody>
      </p:sp>
      <p:pic>
        <p:nvPicPr>
          <p:cNvPr id="4" name="phoneToday" descr="/tmp/claude-0/-home-claude/e6860527-6c63-52b9-b0f7-2a41a8fc2cfa/scratchpad/deck/img/f_to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2633079" cy="2377440"/>
          </a:xfrm>
          <a:prstGeom prst="rect">
            <a:avLst/>
          </a:prstGeom>
        </p:spPr>
      </p:pic>
      <p:sp>
        <p:nvSpPr>
          <p:cNvPr id="5" name="featCircle0"/>
          <p:cNvSpPr/>
          <p:nvPr/>
        </p:nvSpPr>
        <p:spPr>
          <a:xfrm>
            <a:off x="3063240" y="96012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featIcon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078992"/>
            <a:ext cx="265176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749040" y="9509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URLを開くだけ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3749040" y="12435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chemeClr val="tx2"/>
                </a:solidFill>
              </a:rPr>
              <a:t>ログイン不要</a:t>
            </a:r>
            <a:r>
              <a:rPr lang="en-US" sz="1300" u="sng" dirty="0" err="1">
                <a:solidFill>
                  <a:schemeClr val="tx2"/>
                </a:solidFill>
              </a:rPr>
              <a:t>（セキュリティの観点からログイン必要にした方が良いか</a:t>
            </a:r>
            <a:r>
              <a:rPr lang="en-US" sz="1300" u="sng" dirty="0">
                <a:solidFill>
                  <a:schemeClr val="tx2"/>
                </a:solidFill>
              </a:rPr>
              <a:t>）</a:t>
            </a:r>
            <a:endParaRPr lang="en-US" sz="1300" u="sng" dirty="0"/>
          </a:p>
        </p:txBody>
      </p:sp>
      <p:sp>
        <p:nvSpPr>
          <p:cNvPr id="9" name="featCircle1"/>
          <p:cNvSpPr/>
          <p:nvPr/>
        </p:nvSpPr>
        <p:spPr>
          <a:xfrm>
            <a:off x="3063240" y="1764792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featIcon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1883664"/>
            <a:ext cx="265176" cy="26517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49040" y="17556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スマホでもPCでも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3749040" y="20482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ホーム画面に置けばアプリのように使えます</a:t>
            </a:r>
            <a:endParaRPr lang="en-US" sz="1300" dirty="0"/>
          </a:p>
        </p:txBody>
      </p:sp>
      <p:sp>
        <p:nvSpPr>
          <p:cNvPr id="13" name="featCircle2"/>
          <p:cNvSpPr/>
          <p:nvPr/>
        </p:nvSpPr>
        <p:spPr>
          <a:xfrm>
            <a:off x="3063240" y="2569464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featIcon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688336"/>
            <a:ext cx="265176" cy="26517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49040" y="2560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データはスプレッドシートに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3749040" y="28529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用途別に4つ。右上の⚙から直接開けます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2743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画面は6つのタブ</a:t>
            </a:r>
            <a:endParaRPr lang="en-US" sz="1500" dirty="0"/>
          </a:p>
        </p:txBody>
      </p:sp>
      <p:sp>
        <p:nvSpPr>
          <p:cNvPr id="18" name="tab0"/>
          <p:cNvSpPr/>
          <p:nvPr/>
        </p:nvSpPr>
        <p:spPr>
          <a:xfrm>
            <a:off x="274320" y="379476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3"/>
          <p:cNvSpPr txBox="1"/>
          <p:nvPr/>
        </p:nvSpPr>
        <p:spPr>
          <a:xfrm>
            <a:off x="41148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今日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11480" y="4197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担当の確認と完了報告</a:t>
            </a:r>
            <a:endParaRPr lang="en-US" sz="1300" dirty="0"/>
          </a:p>
        </p:txBody>
      </p:sp>
      <p:sp>
        <p:nvSpPr>
          <p:cNvPr id="21" name="tab1"/>
          <p:cNvSpPr/>
          <p:nvPr/>
        </p:nvSpPr>
        <p:spPr>
          <a:xfrm>
            <a:off x="3172968" y="379476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6"/>
          <p:cNvSpPr txBox="1"/>
          <p:nvPr/>
        </p:nvSpPr>
        <p:spPr>
          <a:xfrm>
            <a:off x="3310128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入力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3310128" y="4197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新しい投稿・ユーザーを記録</a:t>
            </a:r>
            <a:endParaRPr lang="en-US" sz="1300" dirty="0"/>
          </a:p>
        </p:txBody>
      </p:sp>
      <p:sp>
        <p:nvSpPr>
          <p:cNvPr id="24" name="tab2"/>
          <p:cNvSpPr/>
          <p:nvPr/>
        </p:nvSpPr>
        <p:spPr>
          <a:xfrm>
            <a:off x="6071616" y="379476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9"/>
          <p:cNvSpPr txBox="1"/>
          <p:nvPr/>
        </p:nvSpPr>
        <p:spPr>
          <a:xfrm>
            <a:off x="6208776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シフト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208776" y="4197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自動作成・手直し・確定</a:t>
            </a:r>
            <a:endParaRPr lang="en-US" sz="1300" dirty="0"/>
          </a:p>
        </p:txBody>
      </p:sp>
      <p:sp>
        <p:nvSpPr>
          <p:cNvPr id="27" name="tab3"/>
          <p:cNvSpPr/>
          <p:nvPr/>
        </p:nvSpPr>
        <p:spPr>
          <a:xfrm>
            <a:off x="274320" y="466344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2"/>
          <p:cNvSpPr txBox="1"/>
          <p:nvPr/>
        </p:nvSpPr>
        <p:spPr>
          <a:xfrm>
            <a:off x="411480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投票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411480" y="5065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次月の〇△×を回答</a:t>
            </a:r>
            <a:endParaRPr lang="en-US" sz="1300" dirty="0"/>
          </a:p>
        </p:txBody>
      </p:sp>
      <p:sp>
        <p:nvSpPr>
          <p:cNvPr id="30" name="tab4"/>
          <p:cNvSpPr/>
          <p:nvPr/>
        </p:nvSpPr>
        <p:spPr>
          <a:xfrm>
            <a:off x="3172968" y="466344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5"/>
          <p:cNvSpPr txBox="1"/>
          <p:nvPr/>
        </p:nvSpPr>
        <p:spPr>
          <a:xfrm>
            <a:off x="3310128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実績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3310128" y="5065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活動実績を出力</a:t>
            </a:r>
            <a:endParaRPr lang="en-US" sz="1300" dirty="0"/>
          </a:p>
        </p:txBody>
      </p:sp>
      <p:sp>
        <p:nvSpPr>
          <p:cNvPr id="33" name="tab5"/>
          <p:cNvSpPr/>
          <p:nvPr/>
        </p:nvSpPr>
        <p:spPr>
          <a:xfrm>
            <a:off x="6071616" y="466344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8"/>
          <p:cNvSpPr txBox="1"/>
          <p:nvPr/>
        </p:nvSpPr>
        <p:spPr>
          <a:xfrm>
            <a:off x="6208776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業務報告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6208776" y="5065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業務報告書を出力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① </a:t>
            </a:r>
            <a:r>
              <a:rPr lang="en-US" sz="2000" b="1" dirty="0" err="1">
                <a:solidFill>
                  <a:schemeClr val="tx1"/>
                </a:solidFill>
              </a:rPr>
              <a:t>シフト希望を出す（投票タブ</a:t>
            </a:r>
            <a:r>
              <a:rPr lang="en-US" sz="2000" b="1" dirty="0">
                <a:solidFill>
                  <a:schemeClr val="tx1"/>
                </a:solidFill>
              </a:rPr>
              <a:t>）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/>
              <a:t>毎月、シフト集計のLINE投票を作成しなくてOK</a:t>
            </a:r>
            <a:endParaRPr lang="en-US" sz="1600" dirty="0"/>
          </a:p>
        </p:txBody>
      </p:sp>
      <p:sp>
        <p:nvSpPr>
          <p:cNvPr id="4" name="badge"/>
          <p:cNvSpPr/>
          <p:nvPr/>
        </p:nvSpPr>
        <p:spPr>
          <a:xfrm>
            <a:off x="274320" y="804672"/>
            <a:ext cx="201168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badge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8696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804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全員がやること</a:t>
            </a:r>
            <a:endParaRPr lang="en-US" sz="1400" dirty="0"/>
          </a:p>
        </p:txBody>
      </p:sp>
      <p:pic>
        <p:nvPicPr>
          <p:cNvPr id="7" name="phoneVote" descr="/tmp/claude-0/-home-claude/e6860527-6c63-52b9-b0f7-2a41a8fc2cfa/scratchpad/deck/img/f_v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25880"/>
            <a:ext cx="2491619" cy="3429000"/>
          </a:xfrm>
          <a:prstGeom prst="rect">
            <a:avLst/>
          </a:prstGeom>
        </p:spPr>
      </p:pic>
      <p:sp>
        <p:nvSpPr>
          <p:cNvPr id="8" name="num1"/>
          <p:cNvSpPr/>
          <p:nvPr/>
        </p:nvSpPr>
        <p:spPr>
          <a:xfrm>
            <a:off x="3063240" y="13258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 txBox="1"/>
          <p:nvPr/>
        </p:nvSpPr>
        <p:spPr>
          <a:xfrm>
            <a:off x="30632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566160" y="13075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名前を選ぶ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566160" y="16276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一度選べば、次からは自動で入っています</a:t>
            </a:r>
            <a:endParaRPr lang="en-US" sz="1300" dirty="0"/>
          </a:p>
        </p:txBody>
      </p:sp>
      <p:sp>
        <p:nvSpPr>
          <p:cNvPr id="12" name="num2"/>
          <p:cNvSpPr/>
          <p:nvPr/>
        </p:nvSpPr>
        <p:spPr>
          <a:xfrm>
            <a:off x="3063240" y="219456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 txBox="1"/>
          <p:nvPr/>
        </p:nvSpPr>
        <p:spPr>
          <a:xfrm>
            <a:off x="30632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1762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日ごとに 〇 △ × を押す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4963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「すべて〇」でまとめて入れてから、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都合の悪い日だけ変えると早いです</a:t>
            </a:r>
            <a:endParaRPr lang="en-US" sz="1300" dirty="0"/>
          </a:p>
        </p:txBody>
      </p:sp>
      <p:sp>
        <p:nvSpPr>
          <p:cNvPr id="16" name="num3"/>
          <p:cNvSpPr/>
          <p:nvPr/>
        </p:nvSpPr>
        <p:spPr>
          <a:xfrm>
            <a:off x="3063240" y="30632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3"/>
          <p:cNvSpPr txBox="1"/>
          <p:nvPr/>
        </p:nvSpPr>
        <p:spPr>
          <a:xfrm>
            <a:off x="306324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566160" y="30449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「回答を保存」を押す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3566160" y="33649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締切までは何度でも直せます</a:t>
            </a:r>
            <a:endParaRPr lang="en-US" sz="1300" dirty="0"/>
          </a:p>
        </p:txBody>
      </p:sp>
      <p:sp>
        <p:nvSpPr>
          <p:cNvPr id="20" name="legend0"/>
          <p:cNvSpPr/>
          <p:nvPr/>
        </p:nvSpPr>
        <p:spPr>
          <a:xfrm>
            <a:off x="3063240" y="39776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3F5EA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 txBox="1"/>
          <p:nvPr/>
        </p:nvSpPr>
        <p:spPr>
          <a:xfrm>
            <a:off x="3172968" y="3977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〇  </a:t>
            </a:r>
            <a:r>
              <a:rPr lang="en-US" sz="1300" dirty="0">
                <a:solidFill>
                  <a:schemeClr val="tx1"/>
                </a:solidFill>
              </a:rPr>
              <a:t>担当できる</a:t>
            </a:r>
            <a:endParaRPr lang="en-US" sz="1400" dirty="0"/>
          </a:p>
        </p:txBody>
      </p:sp>
      <p:sp>
        <p:nvSpPr>
          <p:cNvPr id="22" name="legend1"/>
          <p:cNvSpPr/>
          <p:nvPr/>
        </p:nvSpPr>
        <p:spPr>
          <a:xfrm>
            <a:off x="5010912" y="39776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DF2DD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 txBox="1"/>
          <p:nvPr/>
        </p:nvSpPr>
        <p:spPr>
          <a:xfrm>
            <a:off x="5120640" y="3977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△  </a:t>
            </a:r>
            <a:r>
              <a:rPr lang="en-US" sz="1300" dirty="0">
                <a:solidFill>
                  <a:schemeClr val="tx1"/>
                </a:solidFill>
              </a:rPr>
              <a:t>できれば避けたい</a:t>
            </a:r>
            <a:endParaRPr lang="en-US" sz="1400" dirty="0"/>
          </a:p>
        </p:txBody>
      </p:sp>
      <p:sp>
        <p:nvSpPr>
          <p:cNvPr id="24" name="legend2"/>
          <p:cNvSpPr/>
          <p:nvPr/>
        </p:nvSpPr>
        <p:spPr>
          <a:xfrm>
            <a:off x="6958584" y="39776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CEBE9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1"/>
          <p:cNvSpPr txBox="1"/>
          <p:nvPr/>
        </p:nvSpPr>
        <p:spPr>
          <a:xfrm>
            <a:off x="7068312" y="3977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×  </a:t>
            </a:r>
            <a:r>
              <a:rPr lang="en-US" sz="1300" dirty="0">
                <a:solidFill>
                  <a:schemeClr val="tx1"/>
                </a:solidFill>
              </a:rPr>
              <a:t>担当できない</a:t>
            </a:r>
            <a:endParaRPr lang="en-US" sz="1400" dirty="0"/>
          </a:p>
        </p:txBody>
      </p:sp>
      <p:sp>
        <p:nvSpPr>
          <p:cNvPr id="26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3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LINEの投票と違い、回答はそのままシフトの自動作成に使われます（集計の手間なし）。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締切は設定しても、しなくてもOK。締切後も未回答の人は、全日「△」として扱います。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② シフトは自動で作成（シフトタブ）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シフト作りは「確認して確定」だけ</a:t>
            </a:r>
            <a:endParaRPr lang="en-US" sz="1600" dirty="0"/>
          </a:p>
        </p:txBody>
      </p:sp>
      <p:sp>
        <p:nvSpPr>
          <p:cNvPr id="4" name="badge"/>
          <p:cNvSpPr/>
          <p:nvPr/>
        </p:nvSpPr>
        <p:spPr>
          <a:xfrm>
            <a:off x="274320" y="804672"/>
            <a:ext cx="201168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badge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8696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804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自動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8046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全員が回答する／締切を過ぎる と、下書きが自動でできます</a:t>
            </a:r>
            <a:endParaRPr lang="en-US" sz="1400" dirty="0"/>
          </a:p>
        </p:txBody>
      </p:sp>
      <p:pic>
        <p:nvPicPr>
          <p:cNvPr id="8" name="phoneShift" descr="/tmp/claude-0/-home-claude/e6860527-6c63-52b9-b0f7-2a41a8fc2cfa/scratchpad/deck/img/f_sh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325880"/>
            <a:ext cx="2513786" cy="3429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432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偏りが出ないよう、4つのルールで割り振ります</a:t>
            </a:r>
            <a:endParaRPr lang="en-US" sz="1500" dirty="0"/>
          </a:p>
        </p:txBody>
      </p:sp>
      <p:sp>
        <p:nvSpPr>
          <p:cNvPr id="10" name="rule0"/>
          <p:cNvSpPr/>
          <p:nvPr/>
        </p:nvSpPr>
        <p:spPr>
          <a:xfrm>
            <a:off x="274320" y="1737360"/>
            <a:ext cx="256032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ruleIcon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190195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8912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× の日には入れない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38912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担当できない日は必ず外します</a:t>
            </a:r>
            <a:endParaRPr lang="en-US" sz="1200" dirty="0"/>
          </a:p>
        </p:txBody>
      </p:sp>
      <p:sp>
        <p:nvSpPr>
          <p:cNvPr id="14" name="rule1"/>
          <p:cNvSpPr/>
          <p:nvPr/>
        </p:nvSpPr>
        <p:spPr>
          <a:xfrm>
            <a:off x="2971800" y="1737360"/>
            <a:ext cx="256032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ruleIcon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392" y="1901952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136392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2日連続にしない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3136392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前月末との連続も見ます</a:t>
            </a:r>
            <a:endParaRPr lang="en-US" sz="1200" dirty="0"/>
          </a:p>
        </p:txBody>
      </p:sp>
      <p:sp>
        <p:nvSpPr>
          <p:cNvPr id="18" name="rule2"/>
          <p:cNvSpPr/>
          <p:nvPr/>
        </p:nvSpPr>
        <p:spPr>
          <a:xfrm>
            <a:off x="274320" y="3200400"/>
            <a:ext cx="256032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ruleIcon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364992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3891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〇 の人を優先する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438912" y="4096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△ の人は、どうしても足りない日だけ</a:t>
            </a:r>
            <a:endParaRPr lang="en-US" sz="1200" dirty="0"/>
          </a:p>
        </p:txBody>
      </p:sp>
      <p:sp>
        <p:nvSpPr>
          <p:cNvPr id="22" name="rule3"/>
          <p:cNvSpPr/>
          <p:nvPr/>
        </p:nvSpPr>
        <p:spPr>
          <a:xfrm>
            <a:off x="2971800" y="3200400"/>
            <a:ext cx="256032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ruleIcon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6392" y="3364992"/>
            <a:ext cx="329184" cy="32918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13639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回数をそろえる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3136392" y="4096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その月の中で、担当回数を均等にします</a:t>
            </a:r>
            <a:endParaRPr lang="en-US" sz="1200" dirty="0"/>
          </a:p>
        </p:txBody>
      </p:sp>
      <p:sp>
        <p:nvSpPr>
          <p:cNvPr id="26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19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下書きは誰でも手直しでき、「確定する」で完成です。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全員が × の日など、担当者が決まらない日は赤字で警告が出ます。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③ </a:t>
            </a:r>
            <a:r>
              <a:rPr lang="en-US" sz="2000" b="1" dirty="0" err="1">
                <a:solidFill>
                  <a:schemeClr val="tx1"/>
                </a:solidFill>
              </a:rPr>
              <a:t>パトロールしたら完了報告（今日タブ</a:t>
            </a:r>
            <a:r>
              <a:rPr lang="en-US" sz="2000" b="1" dirty="0">
                <a:solidFill>
                  <a:schemeClr val="tx1"/>
                </a:solidFill>
              </a:rPr>
              <a:t>）:</a:t>
            </a:r>
            <a:r>
              <a:rPr lang="en-US" sz="2000" b="1" dirty="0" err="1">
                <a:solidFill>
                  <a:schemeClr val="tx1"/>
                </a:solidFill>
              </a:rPr>
              <a:t>リマインド機能を追加予定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パトロールしたら、ボタンを1つ押すだけ</a:t>
            </a:r>
            <a:endParaRPr lang="en-US" sz="1600" dirty="0"/>
          </a:p>
        </p:txBody>
      </p:sp>
      <p:sp>
        <p:nvSpPr>
          <p:cNvPr id="4" name="badge"/>
          <p:cNvSpPr/>
          <p:nvPr/>
        </p:nvSpPr>
        <p:spPr>
          <a:xfrm>
            <a:off x="274320" y="804672"/>
            <a:ext cx="201168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badge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8696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804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担当者がやること</a:t>
            </a:r>
            <a:endParaRPr lang="en-US" sz="1400" dirty="0"/>
          </a:p>
        </p:txBody>
      </p:sp>
      <p:pic>
        <p:nvPicPr>
          <p:cNvPr id="7" name="phoneToday2" descr="/tmp/claude-0/-home-claude/e6860527-6c63-52b9-b0f7-2a41a8fc2cfa/scratchpad/deck/img/f_to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25880"/>
            <a:ext cx="2442977" cy="3474720"/>
          </a:xfrm>
          <a:prstGeom prst="rect">
            <a:avLst/>
          </a:prstGeom>
        </p:spPr>
      </p:pic>
      <p:sp>
        <p:nvSpPr>
          <p:cNvPr id="8" name="num1"/>
          <p:cNvSpPr/>
          <p:nvPr/>
        </p:nvSpPr>
        <p:spPr>
          <a:xfrm>
            <a:off x="3337560" y="132588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 txBox="1"/>
          <p:nvPr/>
        </p:nvSpPr>
        <p:spPr>
          <a:xfrm>
            <a:off x="333756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840480" y="1307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今日の担当と、自分の予定を確認する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840480" y="16276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今月の自分の担当日が、一覧で見られます</a:t>
            </a:r>
            <a:endParaRPr lang="en-US" sz="1300" dirty="0"/>
          </a:p>
        </p:txBody>
      </p:sp>
      <p:pic>
        <p:nvPicPr>
          <p:cNvPr id="12" name="upcomingZoom" descr="/tmp/claude-0/-home-claude/e6860527-6c63-52b9-b0f7-2a41a8fc2cfa/scratchpad/deck/img/upcom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938528"/>
            <a:ext cx="2255114" cy="566928"/>
          </a:xfrm>
          <a:prstGeom prst="rect">
            <a:avLst/>
          </a:prstGeom>
        </p:spPr>
      </p:pic>
      <p:sp>
        <p:nvSpPr>
          <p:cNvPr id="13" name="num2"/>
          <p:cNvSpPr/>
          <p:nvPr/>
        </p:nvSpPr>
        <p:spPr>
          <a:xfrm>
            <a:off x="3337560" y="269748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 txBox="1"/>
          <p:nvPr/>
        </p:nvSpPr>
        <p:spPr>
          <a:xfrm>
            <a:off x="333756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840480" y="2679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「完了報告」を押す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840480" y="2999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押した瞬間に記録されます。間違えたら取り消しもできます</a:t>
            </a:r>
            <a:endParaRPr lang="en-US" sz="1300" dirty="0"/>
          </a:p>
        </p:txBody>
      </p:sp>
      <p:pic>
        <p:nvPicPr>
          <p:cNvPr id="17" name="extraIcon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4198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840480" y="3346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代わりにやった場合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3840480" y="3611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「実施者」を選んで報告すれば、実績はその人に付きます</a:t>
            </a:r>
            <a:endParaRPr lang="en-US" sz="1200" dirty="0"/>
          </a:p>
        </p:txBody>
      </p:sp>
      <p:pic>
        <p:nvPicPr>
          <p:cNvPr id="20" name="extraIcon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895344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840480" y="3822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報告し忘れた場合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3840480" y="4087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「まだ報告がない日」から、あとで報告できます</a:t>
            </a:r>
            <a:endParaRPr lang="en-US" sz="1200" dirty="0"/>
          </a:p>
        </p:txBody>
      </p:sp>
      <p:pic>
        <p:nvPicPr>
          <p:cNvPr id="23" name="extraIcon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437083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84048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22時のリマインド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4562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22時になっても報告がなければ、通知でお知らせします（設定後）</a:t>
            </a:r>
            <a:endParaRPr lang="en-US" sz="1200" dirty="0"/>
          </a:p>
        </p:txBody>
      </p:sp>
      <p:sp>
        <p:nvSpPr>
          <p:cNvPr id="26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19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これまでスプレッドシートを開いて記入していた完了報告が、ボタン1つになります。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記録はそのままスプレッドシートに残り、活動実績の集計にも使われます。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⑤ 活動実績はボタン1つ（実績タブ）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月末の集計は、ボタン1つ</a:t>
            </a:r>
            <a:endParaRPr lang="en-US" sz="1600" dirty="0"/>
          </a:p>
        </p:txBody>
      </p:sp>
      <p:sp>
        <p:nvSpPr>
          <p:cNvPr id="4" name="badge"/>
          <p:cNvSpPr/>
          <p:nvPr/>
        </p:nvSpPr>
        <p:spPr>
          <a:xfrm>
            <a:off x="274320" y="804672"/>
            <a:ext cx="201168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badge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8696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804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月に1回</a:t>
            </a:r>
            <a:endParaRPr lang="en-US" sz="1400" dirty="0"/>
          </a:p>
        </p:txBody>
      </p:sp>
      <p:pic>
        <p:nvPicPr>
          <p:cNvPr id="7" name="phoneReport" descr="/tmp/claude-0/-home-claude/e6860527-6c63-52b9-b0f7-2a41a8fc2cfa/scratchpad/deck/img/f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25880"/>
            <a:ext cx="2427402" cy="3429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063240" y="132588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「スプシ＋PDFに出力」を押すと、いつもの書式で作成されます</a:t>
            </a:r>
            <a:endParaRPr lang="en-US" sz="1500" dirty="0"/>
          </a:p>
        </p:txBody>
      </p:sp>
      <p:sp>
        <p:nvSpPr>
          <p:cNvPr id="9" name="repItem0"/>
          <p:cNvSpPr/>
          <p:nvPr/>
        </p:nvSpPr>
        <p:spPr>
          <a:xfrm>
            <a:off x="3063240" y="2011680"/>
            <a:ext cx="58064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6"/>
          <p:cNvSpPr txBox="1"/>
          <p:nvPr/>
        </p:nvSpPr>
        <p:spPr>
          <a:xfrm>
            <a:off x="320040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日別の一覧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029200" y="20116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月日・曜日・担当・作業時間（0.25h）</a:t>
            </a:r>
            <a:endParaRPr lang="en-US" sz="1300" dirty="0"/>
          </a:p>
        </p:txBody>
      </p:sp>
      <p:sp>
        <p:nvSpPr>
          <p:cNvPr id="12" name="repItem1"/>
          <p:cNvSpPr/>
          <p:nvPr/>
        </p:nvSpPr>
        <p:spPr>
          <a:xfrm>
            <a:off x="3063240" y="2697480"/>
            <a:ext cx="58064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 txBox="1"/>
          <p:nvPr/>
        </p:nvSpPr>
        <p:spPr>
          <a:xfrm>
            <a:off x="3200400" y="2697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未実施の日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2697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担当・作業時間を空欄にして黄色で表示</a:t>
            </a:r>
            <a:endParaRPr lang="en-US" sz="1300" dirty="0"/>
          </a:p>
        </p:txBody>
      </p:sp>
      <p:sp>
        <p:nvSpPr>
          <p:cNvPr id="15" name="repItem2"/>
          <p:cNvSpPr/>
          <p:nvPr/>
        </p:nvSpPr>
        <p:spPr>
          <a:xfrm>
            <a:off x="3063240" y="3383280"/>
            <a:ext cx="58064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3200400" y="3383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月の担当回数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0" y="33832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人ごとの回数・作業時間・管理者手当（3h）</a:t>
            </a:r>
            <a:endParaRPr lang="en-US" sz="1300" dirty="0"/>
          </a:p>
        </p:txBody>
      </p:sp>
      <p:sp>
        <p:nvSpPr>
          <p:cNvPr id="18" name="repItem3"/>
          <p:cNvSpPr/>
          <p:nvPr/>
        </p:nvSpPr>
        <p:spPr>
          <a:xfrm>
            <a:off x="3063240" y="4069080"/>
            <a:ext cx="58064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 txBox="1"/>
          <p:nvPr/>
        </p:nvSpPr>
        <p:spPr>
          <a:xfrm>
            <a:off x="3200400" y="4069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トータル担当回数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029200" y="4069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これまでの累計を自動で計算</a:t>
            </a:r>
            <a:endParaRPr lang="en-US" sz="1300" dirty="0"/>
          </a:p>
        </p:txBody>
      </p:sp>
      <p:sp>
        <p:nvSpPr>
          <p:cNvPr id="21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PDFはその場でダウンロードされ、Keioのドライブにも保存されます。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同じ内容が「AST業務報告」スプレッドシート（実績_年-月 シート）にも残ります。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⑥ </a:t>
            </a:r>
            <a:r>
              <a:rPr lang="en-US" sz="2000" b="1" dirty="0" err="1">
                <a:solidFill>
                  <a:schemeClr val="tx1"/>
                </a:solidFill>
              </a:rPr>
              <a:t>業務報告書もサイトで作成可能（業務報告タブ</a:t>
            </a:r>
            <a:r>
              <a:rPr lang="en-US" sz="2000" b="1" dirty="0">
                <a:solidFill>
                  <a:schemeClr val="tx1"/>
                </a:solidFill>
              </a:rPr>
              <a:t>）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入力すれば、いつもの書式で PDF と Excel ができる</a:t>
            </a:r>
            <a:endParaRPr lang="en-US" sz="1600" dirty="0"/>
          </a:p>
        </p:txBody>
      </p:sp>
      <p:sp>
        <p:nvSpPr>
          <p:cNvPr id="4" name="badge"/>
          <p:cNvSpPr/>
          <p:nvPr/>
        </p:nvSpPr>
        <p:spPr>
          <a:xfrm>
            <a:off x="274320" y="804672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badge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8696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804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パトロール以外の業務</a:t>
            </a:r>
            <a:endParaRPr lang="en-US" sz="1400" dirty="0"/>
          </a:p>
        </p:txBody>
      </p:sp>
      <p:pic>
        <p:nvPicPr>
          <p:cNvPr id="7" name="phoneWork" descr="/tmp/claude-0/-home-claude/e6860527-6c63-52b9-b0f7-2a41a8fc2cfa/scratchpad/deck/img/f_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25880"/>
            <a:ext cx="2362151" cy="3566160"/>
          </a:xfrm>
          <a:prstGeom prst="rect">
            <a:avLst/>
          </a:prstGeom>
        </p:spPr>
      </p:pic>
      <p:pic>
        <p:nvPicPr>
          <p:cNvPr id="8" name="arrowToPdf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2926080"/>
            <a:ext cx="365760" cy="365760"/>
          </a:xfrm>
          <a:prstGeom prst="rect">
            <a:avLst/>
          </a:prstGeom>
        </p:spPr>
      </p:pic>
      <p:pic>
        <p:nvPicPr>
          <p:cNvPr id="9" name="workPdf" descr="/tmp/claude-0/-home-claude/e6860527-6c63-52b9-b0f7-2a41a8fc2cfa/scratchpad/deck/img/workp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1325880"/>
            <a:ext cx="2589202" cy="34290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263640" y="1325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入力するもの</a:t>
            </a:r>
            <a:endParaRPr lang="en-US" sz="1500" dirty="0"/>
          </a:p>
        </p:txBody>
      </p:sp>
      <p:sp>
        <p:nvSpPr>
          <p:cNvPr id="11" name="num1"/>
          <p:cNvSpPr/>
          <p:nvPr/>
        </p:nvSpPr>
        <p:spPr>
          <a:xfrm>
            <a:off x="6263640" y="173736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6"/>
          <p:cNvSpPr txBox="1"/>
          <p:nvPr/>
        </p:nvSpPr>
        <p:spPr>
          <a:xfrm>
            <a:off x="626364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6647688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報告者情報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6647688" y="1993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氏名・連絡先など（初回のみ）</a:t>
            </a:r>
            <a:endParaRPr lang="en-US" sz="1200" dirty="0"/>
          </a:p>
        </p:txBody>
      </p:sp>
      <p:sp>
        <p:nvSpPr>
          <p:cNvPr id="15" name="num2"/>
          <p:cNvSpPr/>
          <p:nvPr/>
        </p:nvSpPr>
        <p:spPr>
          <a:xfrm>
            <a:off x="6263640" y="251460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0"/>
          <p:cNvSpPr txBox="1"/>
          <p:nvPr/>
        </p:nvSpPr>
        <p:spPr>
          <a:xfrm>
            <a:off x="626364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6647688" y="2496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作業の記録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647688" y="2770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日付・作業時間・作業詳細</a:t>
            </a:r>
            <a:endParaRPr lang="en-US" sz="1200" dirty="0"/>
          </a:p>
        </p:txBody>
      </p:sp>
      <p:sp>
        <p:nvSpPr>
          <p:cNvPr id="19" name="num3"/>
          <p:cNvSpPr/>
          <p:nvPr/>
        </p:nvSpPr>
        <p:spPr>
          <a:xfrm>
            <a:off x="6263640" y="32918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4"/>
          <p:cNvSpPr txBox="1"/>
          <p:nvPr/>
        </p:nvSpPr>
        <p:spPr>
          <a:xfrm>
            <a:off x="626364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647688" y="3273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交通費（任意）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647688" y="3547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往復運賃と日数</a:t>
            </a:r>
            <a:endParaRPr lang="en-US" sz="1200" dirty="0"/>
          </a:p>
        </p:txBody>
      </p:sp>
      <p:pic>
        <p:nvPicPr>
          <p:cNvPr id="23" name="pdf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160520"/>
            <a:ext cx="329184" cy="329184"/>
          </a:xfrm>
          <a:prstGeom prst="rect">
            <a:avLst/>
          </a:prstGeom>
        </p:spPr>
      </p:pic>
      <p:pic>
        <p:nvPicPr>
          <p:cNvPr id="24" name="xls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4160520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78040" y="40873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両方が同時に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ダウンロード</a:t>
            </a:r>
            <a:endParaRPr lang="en-US" sz="1200" dirty="0"/>
          </a:p>
        </p:txBody>
      </p:sp>
      <p:sp>
        <p:nvSpPr>
          <p:cNvPr id="26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19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時間合計・出勤日数・金額（時給1,500円）は、テンプレートの計算式でそのまま計算されます。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書式を変えたいときは、「業務報告関連」スプレッドシートの「業務報告書テンプレート」を直すだけです。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1か月の流れ</a:t>
            </a:r>
            <a:endParaRPr lang="en-US" sz="2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管理者の作業は「確認」と「ボタンを押す」だけに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誰が・いつ・何をするかは、これだけです。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前月末</a:t>
            </a:r>
            <a:endParaRPr lang="en-US" sz="1400" dirty="0"/>
          </a:p>
        </p:txBody>
      </p:sp>
      <p:sp>
        <p:nvSpPr>
          <p:cNvPr id="6" name="flowHead0"/>
          <p:cNvSpPr/>
          <p:nvPr/>
        </p:nvSpPr>
        <p:spPr>
          <a:xfrm>
            <a:off x="274320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274320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投票</a:t>
            </a:r>
            <a:endParaRPr lang="en-US" sz="1800" dirty="0"/>
          </a:p>
        </p:txBody>
      </p:sp>
      <p:sp>
        <p:nvSpPr>
          <p:cNvPr id="8" name="flowBody0"/>
          <p:cNvSpPr/>
          <p:nvPr/>
        </p:nvSpPr>
        <p:spPr>
          <a:xfrm>
            <a:off x="274320" y="2514600"/>
            <a:ext cx="196596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411480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担当：全員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017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次月の〇△×を回答</a:t>
            </a:r>
            <a:endParaRPr lang="en-US" sz="1300" dirty="0"/>
          </a:p>
        </p:txBody>
      </p:sp>
      <p:pic>
        <p:nvPicPr>
          <p:cNvPr id="11" name="flowArrow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1938528"/>
            <a:ext cx="201168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487168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全員そろったら</a:t>
            </a:r>
            <a:endParaRPr lang="en-US" sz="1400" dirty="0"/>
          </a:p>
        </p:txBody>
      </p:sp>
      <p:sp>
        <p:nvSpPr>
          <p:cNvPr id="13" name="flowHead1"/>
          <p:cNvSpPr/>
          <p:nvPr/>
        </p:nvSpPr>
        <p:spPr>
          <a:xfrm>
            <a:off x="2487168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2487168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シフト確定</a:t>
            </a:r>
            <a:endParaRPr lang="en-US" sz="1800" dirty="0"/>
          </a:p>
        </p:txBody>
      </p:sp>
      <p:sp>
        <p:nvSpPr>
          <p:cNvPr id="15" name="flowBody1"/>
          <p:cNvSpPr/>
          <p:nvPr/>
        </p:nvSpPr>
        <p:spPr>
          <a:xfrm>
            <a:off x="2487168" y="2514600"/>
            <a:ext cx="196596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2624328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担当：誰か1人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624328" y="3017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自動の下書きを確認して確定</a:t>
            </a:r>
            <a:endParaRPr lang="en-US" sz="1300" dirty="0"/>
          </a:p>
        </p:txBody>
      </p:sp>
      <p:pic>
        <p:nvPicPr>
          <p:cNvPr id="18" name="flowArrow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938528"/>
            <a:ext cx="201168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00016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毎日</a:t>
            </a:r>
            <a:endParaRPr lang="en-US" sz="1400" dirty="0"/>
          </a:p>
        </p:txBody>
      </p:sp>
      <p:sp>
        <p:nvSpPr>
          <p:cNvPr id="20" name="flowHead2"/>
          <p:cNvSpPr/>
          <p:nvPr/>
        </p:nvSpPr>
        <p:spPr>
          <a:xfrm>
            <a:off x="4700016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 txBox="1"/>
          <p:nvPr/>
        </p:nvSpPr>
        <p:spPr>
          <a:xfrm>
            <a:off x="4700016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完了報告</a:t>
            </a:r>
            <a:endParaRPr lang="en-US" sz="1800" dirty="0"/>
          </a:p>
        </p:txBody>
      </p:sp>
      <p:sp>
        <p:nvSpPr>
          <p:cNvPr id="22" name="flowBody2"/>
          <p:cNvSpPr/>
          <p:nvPr/>
        </p:nvSpPr>
        <p:spPr>
          <a:xfrm>
            <a:off x="4700016" y="2514600"/>
            <a:ext cx="196596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 txBox="1"/>
          <p:nvPr/>
        </p:nvSpPr>
        <p:spPr>
          <a:xfrm>
            <a:off x="4837176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担当：担当者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837176" y="3017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パトロール後に入力・ボタン1つ</a:t>
            </a:r>
            <a:endParaRPr lang="en-US" sz="1300" dirty="0"/>
          </a:p>
        </p:txBody>
      </p:sp>
      <p:pic>
        <p:nvPicPr>
          <p:cNvPr id="25" name="flowArrow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938528"/>
            <a:ext cx="201168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912864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月明け</a:t>
            </a:r>
            <a:endParaRPr lang="en-US" sz="1400" dirty="0"/>
          </a:p>
        </p:txBody>
      </p:sp>
      <p:sp>
        <p:nvSpPr>
          <p:cNvPr id="27" name="flowHead3"/>
          <p:cNvSpPr/>
          <p:nvPr/>
        </p:nvSpPr>
        <p:spPr>
          <a:xfrm>
            <a:off x="6912864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3"/>
          <p:cNvSpPr txBox="1"/>
          <p:nvPr/>
        </p:nvSpPr>
        <p:spPr>
          <a:xfrm>
            <a:off x="6912864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書類の出力</a:t>
            </a:r>
            <a:endParaRPr lang="en-US" sz="1800" dirty="0"/>
          </a:p>
        </p:txBody>
      </p:sp>
      <p:sp>
        <p:nvSpPr>
          <p:cNvPr id="29" name="flowBody3"/>
          <p:cNvSpPr/>
          <p:nvPr/>
        </p:nvSpPr>
        <p:spPr>
          <a:xfrm>
            <a:off x="6912864" y="2514600"/>
            <a:ext cx="196596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5"/>
          <p:cNvSpPr txBox="1"/>
          <p:nvPr/>
        </p:nvSpPr>
        <p:spPr>
          <a:xfrm>
            <a:off x="7050024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担当：誰か1人／各自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050024" y="3017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活動実績・業務報告書を出力</a:t>
            </a:r>
            <a:endParaRPr lang="en-US" sz="1300" dirty="0"/>
          </a:p>
        </p:txBody>
      </p:sp>
      <p:sp>
        <p:nvSpPr>
          <p:cNvPr id="32" name="bellCard"/>
          <p:cNvSpPr/>
          <p:nvPr/>
        </p:nvSpPr>
        <p:spPr>
          <a:xfrm>
            <a:off x="274320" y="3977640"/>
            <a:ext cx="8595360" cy="640080"/>
          </a:xfrm>
          <a:prstGeom prst="roundRect">
            <a:avLst>
              <a:gd name="adj" fmla="val 8571"/>
            </a:avLst>
          </a:prstGeom>
          <a:solidFill>
            <a:srgbClr val="FDF2DD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3" name="bell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6052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1440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投票の未回答・その日の未報告は、毎晩22時に通知でお知らせします（通知の設定後）</a:t>
            </a:r>
            <a:endParaRPr lang="en-US" sz="1400" dirty="0"/>
          </a:p>
        </p:txBody>
      </p:sp>
      <p:sp>
        <p:nvSpPr>
          <p:cNvPr id="35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0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管理者を置かなくても回る仕組みにしてあります（シフトの確定や出力は誰でもできます）。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管理者は「名目上の管理者」として、活動実績の手当欄にだけ反映されます。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今日からのお願い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使い始めるのに必要なのは、この3つだけです。</a:t>
            </a:r>
            <a:endParaRPr lang="en-US" sz="1600" dirty="0"/>
          </a:p>
        </p:txBody>
      </p:sp>
      <p:sp>
        <p:nvSpPr>
          <p:cNvPr id="5" name="ask0"/>
          <p:cNvSpPr/>
          <p:nvPr/>
        </p:nvSpPr>
        <p:spPr>
          <a:xfrm>
            <a:off x="274320" y="1371600"/>
            <a:ext cx="2743200" cy="21945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num1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サイトを開く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下のURLを開く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スマホのホーム画面に追加しておくと便利です</a:t>
            </a:r>
            <a:endParaRPr lang="en-US" sz="1300" dirty="0"/>
          </a:p>
        </p:txBody>
      </p:sp>
      <p:sp>
        <p:nvSpPr>
          <p:cNvPr id="11" name="ask1"/>
          <p:cNvSpPr/>
          <p:nvPr/>
        </p:nvSpPr>
        <p:spPr>
          <a:xfrm>
            <a:off x="3172968" y="1371600"/>
            <a:ext cx="2743200" cy="21945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num2"/>
          <p:cNvSpPr/>
          <p:nvPr/>
        </p:nvSpPr>
        <p:spPr>
          <a:xfrm>
            <a:off x="3355848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335584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自分の名前を選ぶ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355848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右上の「あなた」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一度選べば、次からは自動で入ります</a:t>
            </a:r>
            <a:endParaRPr lang="en-US" sz="1300" dirty="0"/>
          </a:p>
        </p:txBody>
      </p:sp>
      <p:sp>
        <p:nvSpPr>
          <p:cNvPr id="17" name="ask2"/>
          <p:cNvSpPr/>
          <p:nvPr/>
        </p:nvSpPr>
        <p:spPr>
          <a:xfrm>
            <a:off x="6071616" y="1371600"/>
            <a:ext cx="2743200" cy="21945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num3"/>
          <p:cNvSpPr/>
          <p:nvPr/>
        </p:nvSpPr>
        <p:spPr>
          <a:xfrm>
            <a:off x="6254496" y="1554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62544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来月分を投票する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投票タブ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〇△×を入れて「回答を保存」</a:t>
            </a:r>
            <a:endParaRPr lang="en-US" sz="1300" dirty="0"/>
          </a:p>
        </p:txBody>
      </p:sp>
      <p:sp>
        <p:nvSpPr>
          <p:cNvPr id="23" name="urlCard"/>
          <p:cNvSpPr/>
          <p:nvPr/>
        </p:nvSpPr>
        <p:spPr>
          <a:xfrm>
            <a:off x="274320" y="3794760"/>
            <a:ext cx="8595360" cy="59436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url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5020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914400" y="3794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chemeClr val="tx2"/>
                </a:solidFill>
              </a:rPr>
              <a:t>サイトURL</a:t>
            </a:r>
            <a:r>
              <a:rPr lang="en-US" sz="1400" b="1" dirty="0">
                <a:solidFill>
                  <a:schemeClr val="tx2"/>
                </a:solidFill>
              </a:rPr>
              <a:t>　</a:t>
            </a:r>
            <a:r>
              <a:rPr lang="ja-JP" altLang="ja-JP" b="1" u="sng">
                <a:hlinkClick r:id="rId4"/>
              </a:rPr>
              <a:t>https://astpatrolstudent-dev.github.io/patrol/</a:t>
            </a:r>
            <a:endParaRPr lang="en-US" sz="1400" dirty="0"/>
          </a:p>
        </p:txBody>
      </p:sp>
      <p:sp>
        <p:nvSpPr>
          <p:cNvPr id="26" name="point"/>
          <p:cNvSpPr/>
          <p:nvPr/>
        </p:nvSpPr>
        <p:spPr>
          <a:xfrm>
            <a:off x="274320" y="4617720"/>
            <a:ext cx="859536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9651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データはすべて Keio のスプレッドシートに保存されるので、サイトが使えないときも直接確認できます。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使っていて分かりにくい点や、追加してほしい機能があれば教えてください。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問い合わせ先：蔵本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チーム用アカウント（サイト管理用）</a:t>
            </a:r>
            <a:endParaRPr lang="en-US" sz="2000" dirty="0"/>
          </a:p>
        </p:txBody>
      </p:sp>
      <p:sp>
        <p:nvSpPr>
          <p:cNvPr id="101" name="lead"/>
          <p:cNvSpPr txBox="1"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サイトの管理は、すべてこのアカウントで行います。引き継ぎはこの情報を渡すだけです。</a:t>
            </a:r>
          </a:p>
        </p:txBody>
      </p:sp>
      <p:sp>
        <p:nvSpPr>
          <p:cNvPr id="102" name="acctCard"/>
          <p:cNvSpPr/>
          <p:nvPr/>
        </p:nvSpPr>
        <p:spPr>
          <a:xfrm>
            <a:off x="274320" y="1325880"/>
            <a:ext cx="5120640" cy="25146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3" name="acctHead"/>
          <p:cNvSpPr txBox="1"/>
          <p:nvPr/>
        </p:nvSpPr>
        <p:spPr>
          <a:xfrm>
            <a:off x="457200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chemeClr val="accent1"/>
                </a:solidFill>
              </a:rPr>
              <a:t>Google アカウント</a:t>
            </a:r>
          </a:p>
        </p:txBody>
      </p:sp>
      <p:sp>
        <p:nvSpPr>
          <p:cNvPr id="104" name="acctRow0"/>
          <p:cNvSpPr/>
          <p:nvPr/>
        </p:nvSpPr>
        <p:spPr>
          <a:xfrm>
            <a:off x="457200" y="1874520"/>
            <a:ext cx="475488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5" name="acctK0"/>
          <p:cNvSpPr txBox="1"/>
          <p:nvPr/>
        </p:nvSpPr>
        <p:spPr>
          <a:xfrm>
            <a:off x="59436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chemeClr val="tx2"/>
                </a:solidFill>
              </a:rPr>
              <a:t>メールアドレス</a:t>
            </a:r>
          </a:p>
        </p:txBody>
      </p:sp>
      <p:sp>
        <p:nvSpPr>
          <p:cNvPr id="106" name="acctV0"/>
          <p:cNvSpPr txBox="1"/>
          <p:nvPr/>
        </p:nvSpPr>
        <p:spPr>
          <a:xfrm>
            <a:off x="2331720" y="1874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astpatrol.student@gmail.com</a:t>
            </a:r>
          </a:p>
        </p:txBody>
      </p:sp>
      <p:sp>
        <p:nvSpPr>
          <p:cNvPr id="107" name="acctRow1"/>
          <p:cNvSpPr/>
          <p:nvPr/>
        </p:nvSpPr>
        <p:spPr>
          <a:xfrm>
            <a:off x="457200" y="2331720"/>
            <a:ext cx="4754880" cy="384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8" name="acctK1"/>
          <p:cNvSpPr txBox="1"/>
          <p:nvPr/>
        </p:nvSpPr>
        <p:spPr>
          <a:xfrm>
            <a:off x="594360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chemeClr val="tx2"/>
                </a:solidFill>
              </a:rPr>
              <a:t>パスワード</a:t>
            </a:r>
          </a:p>
        </p:txBody>
      </p:sp>
      <p:sp>
        <p:nvSpPr>
          <p:cNvPr id="109" name="acctV1"/>
          <p:cNvSpPr txBox="1"/>
          <p:nvPr/>
        </p:nvSpPr>
        <p:spPr>
          <a:xfrm>
            <a:off x="233172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astpatrol</a:t>
            </a:r>
          </a:p>
        </p:txBody>
      </p:sp>
      <p:sp>
        <p:nvSpPr>
          <p:cNvPr id="110" name="acctRow2"/>
          <p:cNvSpPr/>
          <p:nvPr/>
        </p:nvSpPr>
        <p:spPr>
          <a:xfrm>
            <a:off x="457200" y="2788920"/>
            <a:ext cx="475488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1" name="acctK2"/>
          <p:cNvSpPr txBox="1"/>
          <p:nvPr/>
        </p:nvSpPr>
        <p:spPr>
          <a:xfrm>
            <a:off x="59436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chemeClr val="tx2"/>
                </a:solidFill>
              </a:rPr>
              <a:t>生年月日（登録用）</a:t>
            </a:r>
          </a:p>
        </p:txBody>
      </p:sp>
      <p:sp>
        <p:nvSpPr>
          <p:cNvPr id="112" name="acctV2"/>
          <p:cNvSpPr txBox="1"/>
          <p:nvPr/>
        </p:nvSpPr>
        <p:spPr>
          <a:xfrm>
            <a:off x="2331720" y="27889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2001/1/1</a:t>
            </a:r>
          </a:p>
        </p:txBody>
      </p:sp>
      <p:sp>
        <p:nvSpPr>
          <p:cNvPr id="113" name="acctRow3"/>
          <p:cNvSpPr/>
          <p:nvPr/>
        </p:nvSpPr>
        <p:spPr>
          <a:xfrm>
            <a:off x="457200" y="3246120"/>
            <a:ext cx="4754880" cy="384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4" name="acctK3"/>
          <p:cNvSpPr txBox="1"/>
          <p:nvPr/>
        </p:nvSpPr>
        <p:spPr>
          <a:xfrm>
            <a:off x="594360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chemeClr val="tx2"/>
                </a:solidFill>
              </a:rPr>
              <a:t>アカウント名</a:t>
            </a:r>
          </a:p>
        </p:txBody>
      </p:sp>
      <p:sp>
        <p:nvSpPr>
          <p:cNvPr id="115" name="acctV3"/>
          <p:cNvSpPr txBox="1"/>
          <p:nvPr/>
        </p:nvSpPr>
        <p:spPr>
          <a:xfrm>
            <a:off x="2331720" y="3246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AST業務_慶應学生</a:t>
            </a:r>
          </a:p>
        </p:txBody>
      </p:sp>
      <p:sp>
        <p:nvSpPr>
          <p:cNvPr id="116" name="useCard"/>
          <p:cNvSpPr/>
          <p:nvPr/>
        </p:nvSpPr>
        <p:spPr>
          <a:xfrm>
            <a:off x="5577840" y="1325880"/>
            <a:ext cx="3291840" cy="2514600"/>
          </a:xfrm>
          <a:prstGeom prst="roundRect">
            <a:avLst>
              <a:gd name="adj" fmla="val 25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17" name="useHead"/>
          <p:cNvSpPr txBox="1"/>
          <p:nvPr/>
        </p:nvSpPr>
        <p:spPr>
          <a:xfrm>
            <a:off x="5760720" y="1463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accent1"/>
                </a:solidFill>
              </a:rPr>
              <a:t>このアカウントで管理しているもの</a:t>
            </a:r>
          </a:p>
        </p:txBody>
      </p:sp>
      <p:sp>
        <p:nvSpPr>
          <p:cNvPr id="118" name="useH0"/>
          <p:cNvSpPr txBox="1"/>
          <p:nvPr/>
        </p:nvSpPr>
        <p:spPr>
          <a:xfrm>
            <a:off x="576072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Apps Script</a:t>
            </a:r>
          </a:p>
        </p:txBody>
      </p:sp>
      <p:sp>
        <p:nvSpPr>
          <p:cNvPr id="119" name="useD0"/>
          <p:cNvSpPr txBox="1"/>
          <p:nvPr/>
        </p:nvSpPr>
        <p:spPr>
          <a:xfrm>
            <a:off x="57607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プロジェクト「パトロールシフト」</a:t>
            </a:r>
          </a:p>
        </p:txBody>
      </p:sp>
      <p:sp>
        <p:nvSpPr>
          <p:cNvPr id="120" name="useH1"/>
          <p:cNvSpPr txBox="1"/>
          <p:nvPr/>
        </p:nvSpPr>
        <p:spPr>
          <a:xfrm>
            <a:off x="5760720" y="2514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121" name="useD1"/>
          <p:cNvSpPr txBox="1"/>
          <p:nvPr/>
        </p:nvSpPr>
        <p:spPr>
          <a:xfrm>
            <a:off x="576072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astpatrolstudent-dev ／ patrol</a:t>
            </a:r>
          </a:p>
        </p:txBody>
      </p:sp>
      <p:sp>
        <p:nvSpPr>
          <p:cNvPr id="122" name="useH2"/>
          <p:cNvSpPr txBox="1"/>
          <p:nvPr/>
        </p:nvSpPr>
        <p:spPr>
          <a:xfrm>
            <a:off x="5760720" y="3154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Keio のデータ</a:t>
            </a:r>
          </a:p>
        </p:txBody>
      </p:sp>
      <p:sp>
        <p:nvSpPr>
          <p:cNvPr id="123" name="useD2"/>
          <p:cNvSpPr txBox="1"/>
          <p:nvPr/>
        </p:nvSpPr>
        <p:spPr>
          <a:xfrm>
            <a:off x="576072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スプシ・フォルダの編集権限</a:t>
            </a:r>
          </a:p>
        </p:txBody>
      </p:sp>
      <p:sp>
        <p:nvSpPr>
          <p:cNvPr id="124" name="urlCard"/>
          <p:cNvSpPr/>
          <p:nvPr/>
        </p:nvSpPr>
        <p:spPr>
          <a:xfrm>
            <a:off x="274320" y="3977640"/>
            <a:ext cx="8595360" cy="54864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25" name="urlText"/>
          <p:cNvSpPr txBox="1"/>
          <p:nvPr/>
        </p:nvSpPr>
        <p:spPr>
          <a:xfrm>
            <a:off x="457200" y="3977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chemeClr val="tx2"/>
                </a:solidFill>
              </a:rPr>
              <a:t>サイトURL　</a:t>
            </a:r>
            <a:r>
              <a:rPr lang="ja-JP" altLang="en-US" sz="1600" b="1" dirty="0">
                <a:solidFill>
                  <a:schemeClr val="accent1"/>
                </a:solidFill>
              </a:rPr>
              <a:t>https://astpatrolstudent-dev.github.io/patrol/</a:t>
            </a:r>
          </a:p>
        </p:txBody>
      </p:sp>
      <p:sp>
        <p:nvSpPr>
          <p:cNvPr id="126" name="point"/>
          <p:cNvSpPr/>
          <p:nvPr/>
        </p:nvSpPr>
        <p:spPr>
          <a:xfrm>
            <a:off x="274320" y="4663440"/>
            <a:ext cx="8595360" cy="1143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7" name="pointHead"/>
          <p:cNvSpPr txBox="1"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chemeClr val="accent1"/>
                </a:solidFill>
              </a:rPr>
              <a:t>POINT</a:t>
            </a:r>
          </a:p>
        </p:txBody>
      </p:sp>
      <p:sp>
        <p:nvSpPr>
          <p:cNvPr id="128" name="pointBody"/>
          <p:cNvSpPr txBox="1"/>
          <p:nvPr/>
        </p:nvSpPr>
        <p:spPr>
          <a:xfrm>
            <a:off x="457200" y="5010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このページはパスワードを含むため、メンバー全員に配る資料からは外してください。</a:t>
            </a:r>
          </a:p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管理者・後任の人だけが見られる場所（共有ドライブの限定フォルダなど）に保管するのがおすすめです。</a:t>
            </a:r>
          </a:p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パスワードは推測されにくいものに変更し、2段階認証の予備コードも一緒に保管してください。</a:t>
            </a:r>
          </a:p>
        </p:txBody>
      </p:sp>
      <p:sp>
        <p:nvSpPr>
          <p:cNvPr id="129" name="key"/>
          <p:cNvSpPr>
            <a:spLocks noGrp="1"/>
          </p:cNvSpPr>
          <p:nvPr>
            <p:ph type="body" idx="103" hasCustomPrompt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引き継ぎは、このページを渡すだけ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各種U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各種URL・各種シートもサイトから</a:t>
            </a:r>
            <a:endParaRPr lang="en-US" sz="2000" dirty="0"/>
          </a:p>
        </p:txBody>
      </p:sp>
      <p:sp>
        <p:nvSpPr>
          <p:cNvPr id="201" name="lead"/>
          <p:cNvSpPr txBox="1"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パトロールで使うページと、データのシートへのリンクをサイトにまとめました。</a:t>
            </a:r>
          </a:p>
        </p:txBody>
      </p:sp>
      <p:sp>
        <p:nvSpPr>
          <p:cNvPr id="202" name="lab1"/>
          <p:cNvSpPr txBox="1"/>
          <p:nvPr/>
        </p:nvSpPr>
        <p:spPr>
          <a:xfrm>
            <a:off x="27432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accent1"/>
                </a:solidFill>
              </a:rPr>
              <a:t>今日タブ </a:t>
            </a:r>
            <a:r>
              <a:rPr lang="ja-JP" altLang="en-US" sz="1400" b="1" dirty="0">
                <a:solidFill>
                  <a:schemeClr val="tx1"/>
                </a:solidFill>
              </a:rPr>
              <a:t>「各種URL」</a:t>
            </a:r>
          </a:p>
        </p:txBody>
      </p:sp>
      <p:pic>
        <p:nvPicPr>
          <p:cNvPr id="203" name="各種URL" descr="各種URL"/>
          <p:cNvPicPr>
            <a:picLocks noChangeAspect="1"/>
          </p:cNvPicPr>
          <p:nvPr/>
        </p:nvPicPr>
        <p:blipFill>
          <a:blip r:embed="rIdL1"/>
          <a:stretch>
            <a:fillRect/>
          </a:stretch>
        </p:blipFill>
        <p:spPr>
          <a:xfrm>
            <a:off x="274320" y="1645920"/>
            <a:ext cx="3383280" cy="1228565"/>
          </a:xfrm>
          <a:prstGeom prst="rect">
            <a:avLst/>
          </a:prstGeom>
          <a:ln w="9525">
            <a:solidFill>
              <a:schemeClr val="accent4"/>
            </a:solidFill>
          </a:ln>
        </p:spPr>
      </p:pic>
      <p:sp>
        <p:nvSpPr>
          <p:cNvPr id="204" name="backupCard"/>
          <p:cNvSpPr/>
          <p:nvPr/>
        </p:nvSpPr>
        <p:spPr>
          <a:xfrm>
            <a:off x="274320" y="3011645"/>
            <a:ext cx="3383280" cy="1788955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05" name="lab2"/>
          <p:cNvSpPr txBox="1"/>
          <p:nvPr/>
        </p:nvSpPr>
        <p:spPr>
          <a:xfrm>
            <a:off x="411480" y="3103085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accent1"/>
                </a:solidFill>
              </a:rPr>
              <a:t>右上の⚙</a:t>
            </a:r>
            <a:r>
              <a:rPr lang="ja-JP" altLang="en-US" sz="1400" b="1" dirty="0">
                <a:solidFill>
                  <a:schemeClr val="tx1"/>
                </a:solidFill>
              </a:rPr>
              <a:t>「各種シート」</a:t>
            </a:r>
          </a:p>
        </p:txBody>
      </p:sp>
      <p:sp>
        <p:nvSpPr>
          <p:cNvPr id="206" name="lab2d"/>
          <p:cNvSpPr txBox="1"/>
          <p:nvPr/>
        </p:nvSpPr>
        <p:spPr>
          <a:xfrm>
            <a:off x="411480" y="3468845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基本</a:t>
            </a:r>
            <a:r>
              <a:rPr lang="ja-JP" altLang="en-US" sz="1200" dirty="0">
                <a:solidFill>
                  <a:schemeClr val="tx2"/>
                </a:solidFill>
              </a:rPr>
              <a:t>（メンバー・投票）</a:t>
            </a:r>
          </a:p>
          <a:p>
            <a:pPr marL="0" indent="0" algn="l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AST業務報告</a:t>
            </a:r>
            <a:r>
              <a:rPr lang="ja-JP" altLang="en-US" sz="1200" dirty="0">
                <a:solidFill>
                  <a:schemeClr val="tx2"/>
                </a:solidFill>
              </a:rPr>
              <a:t>（シフト・実績）</a:t>
            </a:r>
          </a:p>
          <a:p>
            <a:pPr marL="0" indent="0" algn="l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業務報告関連</a:t>
            </a:r>
            <a:r>
              <a:rPr lang="ja-JP" altLang="en-US" sz="1200" dirty="0">
                <a:solidFill>
                  <a:schemeClr val="tx2"/>
                </a:solidFill>
              </a:rPr>
              <a:t>（業務報告書）</a:t>
            </a:r>
          </a:p>
          <a:p>
            <a:pPr marL="0" indent="0" algn="l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パトロールマスタデータ</a:t>
            </a:r>
            <a:r>
              <a:rPr lang="ja-JP" altLang="en-US" sz="1200" dirty="0">
                <a:solidFill>
                  <a:schemeClr val="tx2"/>
                </a:solidFill>
              </a:rPr>
              <a:t/>
            </a:r>
          </a:p>
        </p:txBody>
      </p:sp>
      <p:sp>
        <p:nvSpPr>
          <p:cNvPr id="207" name="flowCard"/>
          <p:cNvSpPr/>
          <p:nvPr/>
        </p:nvSpPr>
        <p:spPr>
          <a:xfrm>
            <a:off x="3840480" y="1325880"/>
            <a:ext cx="5029200" cy="34747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08" name="flowHead"/>
          <p:cNvSpPr txBox="1"/>
          <p:nvPr/>
        </p:nvSpPr>
        <p:spPr>
          <a:xfrm>
            <a:off x="40233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chemeClr val="accent1"/>
                </a:solidFill>
              </a:rPr>
              <a:t>パトロールの1日の流れ</a:t>
            </a:r>
          </a:p>
        </p:txBody>
      </p:sp>
      <p:sp>
        <p:nvSpPr>
          <p:cNvPr id="209" name="num1"/>
          <p:cNvSpPr/>
          <p:nvPr/>
        </p:nvSpPr>
        <p:spPr>
          <a:xfrm>
            <a:off x="4023360" y="1874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0" name="numT1"/>
          <p:cNvSpPr txBox="1"/>
          <p:nvPr/>
        </p:nvSpPr>
        <p:spPr>
          <a:xfrm>
            <a:off x="402336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1" name="stepH0"/>
          <p:cNvSpPr txBox="1"/>
          <p:nvPr/>
        </p:nvSpPr>
        <p:spPr>
          <a:xfrm>
            <a:off x="4498848" y="1856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サイトを開く</a:t>
            </a:r>
          </a:p>
        </p:txBody>
      </p:sp>
      <p:sp>
        <p:nvSpPr>
          <p:cNvPr id="212" name="stepD0"/>
          <p:cNvSpPr txBox="1"/>
          <p:nvPr/>
        </p:nvSpPr>
        <p:spPr>
          <a:xfrm>
            <a:off x="4498848" y="21488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今日の担当を確認</a:t>
            </a:r>
          </a:p>
        </p:txBody>
      </p:sp>
      <p:sp>
        <p:nvSpPr>
          <p:cNvPr id="213" name="num2"/>
          <p:cNvSpPr/>
          <p:nvPr/>
        </p:nvSpPr>
        <p:spPr>
          <a:xfrm>
            <a:off x="4023360" y="25786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4" name="numT2"/>
          <p:cNvSpPr txBox="1"/>
          <p:nvPr/>
        </p:nvSpPr>
        <p:spPr>
          <a:xfrm>
            <a:off x="402336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5" name="stepH1"/>
          <p:cNvSpPr txBox="1"/>
          <p:nvPr/>
        </p:nvSpPr>
        <p:spPr>
          <a:xfrm>
            <a:off x="4498848" y="2560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「platform clover」を開いてパトロール</a:t>
            </a:r>
          </a:p>
        </p:txBody>
      </p:sp>
      <p:sp>
        <p:nvSpPr>
          <p:cNvPr id="216" name="stepD1"/>
          <p:cNvSpPr txBox="1"/>
          <p:nvPr/>
        </p:nvSpPr>
        <p:spPr>
          <a:xfrm>
            <a:off x="4498848" y="28529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各種URLからそのまま開けます</a:t>
            </a:r>
          </a:p>
        </p:txBody>
      </p:sp>
      <p:sp>
        <p:nvSpPr>
          <p:cNvPr id="217" name="num3"/>
          <p:cNvSpPr/>
          <p:nvPr/>
        </p:nvSpPr>
        <p:spPr>
          <a:xfrm>
            <a:off x="4023360" y="32826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8" name="numT3"/>
          <p:cNvSpPr txBox="1"/>
          <p:nvPr/>
        </p:nvSpPr>
        <p:spPr>
          <a:xfrm>
            <a:off x="4023360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9" name="stepH2"/>
          <p:cNvSpPr txBox="1"/>
          <p:nvPr/>
        </p:nvSpPr>
        <p:spPr>
          <a:xfrm>
            <a:off x="4498848" y="32644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新しい投稿があれば「入力」タブで記録</a:t>
            </a:r>
          </a:p>
        </p:txBody>
      </p:sp>
      <p:sp>
        <p:nvSpPr>
          <p:cNvPr id="220" name="stepD2"/>
          <p:cNvSpPr txBox="1"/>
          <p:nvPr/>
        </p:nvSpPr>
        <p:spPr>
          <a:xfrm>
            <a:off x="4498848" y="35570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パトロールマスタデータに自動で追記されます</a:t>
            </a:r>
          </a:p>
        </p:txBody>
      </p:sp>
      <p:sp>
        <p:nvSpPr>
          <p:cNvPr id="221" name="num4"/>
          <p:cNvSpPr/>
          <p:nvPr/>
        </p:nvSpPr>
        <p:spPr>
          <a:xfrm>
            <a:off x="4023360" y="398678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2" name="numT4"/>
          <p:cNvSpPr txBox="1"/>
          <p:nvPr/>
        </p:nvSpPr>
        <p:spPr>
          <a:xfrm>
            <a:off x="402336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3" name="stepH3"/>
          <p:cNvSpPr txBox="1"/>
          <p:nvPr/>
        </p:nvSpPr>
        <p:spPr>
          <a:xfrm>
            <a:off x="4498848" y="39684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サイトで「完了報告」を押す</a:t>
            </a:r>
          </a:p>
        </p:txBody>
      </p:sp>
      <p:sp>
        <p:nvSpPr>
          <p:cNvPr id="224" name="stepD3"/>
          <p:cNvSpPr txBox="1"/>
          <p:nvPr/>
        </p:nvSpPr>
        <p:spPr>
          <a:xfrm>
            <a:off x="4498848" y="4261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これで活動実績にも記録されます</a:t>
            </a:r>
          </a:p>
        </p:txBody>
      </p:sp>
      <p:sp>
        <p:nvSpPr>
          <p:cNvPr id="225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26" name="pointHead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chemeClr val="accent1"/>
                </a:solidFill>
              </a:rPr>
              <a:t>POINT</a:t>
            </a:r>
          </a:p>
        </p:txBody>
      </p:sp>
      <p:sp>
        <p:nvSpPr>
          <p:cNvPr id="227" name="pointBody"/>
          <p:cNvSpPr txBox="1"/>
          <p:nvPr/>
        </p:nvSpPr>
        <p:spPr>
          <a:xfrm>
            <a:off x="457200" y="5285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リンクは新しいタブで開きます。各種シートは、スプレッドシートを共有されている人だけが開けます。</a:t>
            </a:r>
          </a:p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リンクの追加・変更は、index.html の「LINKS」「BACKUP_LINKS」を書き換えるだけです。</a:t>
            </a:r>
          </a:p>
        </p:txBody>
      </p:sp>
      <p:sp>
        <p:nvSpPr>
          <p:cNvPr id="228" name="key"/>
          <p:cNvSpPr>
            <a:spLocks noGrp="1"/>
          </p:cNvSpPr>
          <p:nvPr>
            <p:ph type="body" idx="103" hasCustomPrompt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使うページもシートも、すべてサイトから開ける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④ </a:t>
            </a:r>
            <a:r>
              <a:rPr lang="en-US" sz="2000" b="1" dirty="0" err="1">
                <a:solidFill>
                  <a:schemeClr val="tx1"/>
                </a:solidFill>
              </a:rPr>
              <a:t>新しい投稿・ユーザーを記録（入力タブ）</a:t>
            </a:r>
            <a:endParaRPr lang="en-US" sz="2000" dirty="0"/>
          </a:p>
        </p:txBody>
      </p:sp>
      <p:sp>
        <p:nvSpPr>
          <p:cNvPr id="4" name="badge"/>
          <p:cNvSpPr/>
          <p:nvPr/>
        </p:nvSpPr>
        <p:spPr>
          <a:xfrm>
            <a:off x="274320" y="804672"/>
            <a:ext cx="201168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badge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8696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804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担当者がやること</a:t>
            </a:r>
            <a:endParaRPr lang="en-US" sz="1400" dirty="0"/>
          </a:p>
        </p:txBody>
      </p:sp>
      <p:pic>
        <p:nvPicPr>
          <p:cNvPr id="201" name="phoneInput" descr="入力タブの画面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09" y="1325880"/>
            <a:ext cx="1830671" cy="3474720"/>
          </a:xfrm>
          <a:prstGeom prst="rect">
            <a:avLst/>
          </a:prstGeom>
        </p:spPr>
      </p:pic>
      <p:sp>
        <p:nvSpPr>
          <p:cNvPr id="202" name="num1"/>
          <p:cNvSpPr/>
          <p:nvPr/>
        </p:nvSpPr>
        <p:spPr>
          <a:xfrm>
            <a:off x="3337560" y="132588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03" name="numT1"/>
          <p:cNvSpPr txBox="1"/>
          <p:nvPr/>
        </p:nvSpPr>
        <p:spPr>
          <a:xfrm>
            <a:off x="333756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4" name="stepH0"/>
          <p:cNvSpPr txBox="1"/>
          <p:nvPr/>
        </p:nvSpPr>
        <p:spPr>
          <a:xfrm>
            <a:off x="3840480" y="1307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種類を選ぶ</a:t>
            </a:r>
          </a:p>
        </p:txBody>
      </p:sp>
      <p:sp>
        <p:nvSpPr>
          <p:cNvPr id="205" name="stepD0"/>
          <p:cNvSpPr txBox="1"/>
          <p:nvPr/>
        </p:nvSpPr>
        <p:spPr>
          <a:xfrm>
            <a:off x="3840480" y="16276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プロジェクト／アクティビティ／ニーズ／シーズ／ユーザー</a:t>
            </a:r>
          </a:p>
        </p:txBody>
      </p:sp>
      <p:sp>
        <p:nvSpPr>
          <p:cNvPr id="206" name="num2"/>
          <p:cNvSpPr/>
          <p:nvPr/>
        </p:nvSpPr>
        <p:spPr>
          <a:xfrm>
            <a:off x="3337560" y="198424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07" name="numT2"/>
          <p:cNvSpPr txBox="1"/>
          <p:nvPr/>
        </p:nvSpPr>
        <p:spPr>
          <a:xfrm>
            <a:off x="333756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8" name="stepH1"/>
          <p:cNvSpPr txBox="1"/>
          <p:nvPr/>
        </p:nvSpPr>
        <p:spPr>
          <a:xfrm>
            <a:off x="3840480" y="1965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No.・名前・投稿者を入れる</a:t>
            </a:r>
          </a:p>
        </p:txBody>
      </p:sp>
      <p:sp>
        <p:nvSpPr>
          <p:cNvPr id="209" name="stepD1"/>
          <p:cNvSpPr txBox="1"/>
          <p:nvPr/>
        </p:nvSpPr>
        <p:spPr>
          <a:xfrm>
            <a:off x="3840480" y="2286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日付と担当者は、はじめから「今日」「自分」が入っています</a:t>
            </a:r>
          </a:p>
        </p:txBody>
      </p:sp>
      <p:sp>
        <p:nvSpPr>
          <p:cNvPr id="210" name="num3"/>
          <p:cNvSpPr/>
          <p:nvPr/>
        </p:nvSpPr>
        <p:spPr>
          <a:xfrm>
            <a:off x="3337560" y="264261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1" name="numT3"/>
          <p:cNvSpPr txBox="1"/>
          <p:nvPr/>
        </p:nvSpPr>
        <p:spPr>
          <a:xfrm>
            <a:off x="333756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2" name="stepH2"/>
          <p:cNvSpPr txBox="1"/>
          <p:nvPr/>
        </p:nvSpPr>
        <p:spPr>
          <a:xfrm>
            <a:off x="3840480" y="2624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「追加」を押す</a:t>
            </a:r>
          </a:p>
        </p:txBody>
      </p:sp>
      <p:sp>
        <p:nvSpPr>
          <p:cNvPr id="213" name="stepD2"/>
          <p:cNvSpPr txBox="1"/>
          <p:nvPr/>
        </p:nvSpPr>
        <p:spPr>
          <a:xfrm>
            <a:off x="3840480" y="2944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パトロールマスタデータの該当シートの一番下に追記されます</a:t>
            </a:r>
          </a:p>
        </p:txBody>
      </p:sp>
      <p:sp>
        <p:nvSpPr>
          <p:cNvPr id="214" name="colsCard"/>
          <p:cNvSpPr/>
          <p:nvPr/>
        </p:nvSpPr>
        <p:spPr>
          <a:xfrm>
            <a:off x="3337560" y="3310128"/>
            <a:ext cx="5532120" cy="1490472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5" name="colsHead"/>
          <p:cNvSpPr txBox="1"/>
          <p:nvPr/>
        </p:nvSpPr>
        <p:spPr>
          <a:xfrm>
            <a:off x="3502152" y="34198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chemeClr val="accent1"/>
                </a:solidFill>
              </a:rPr>
              <a:t>シートに自動で書き込まれる内容</a:t>
            </a:r>
          </a:p>
        </p:txBody>
      </p:sp>
      <p:sp>
        <p:nvSpPr>
          <p:cNvPr id="216" name="col0"/>
          <p:cNvSpPr/>
          <p:nvPr/>
        </p:nvSpPr>
        <p:spPr>
          <a:xfrm>
            <a:off x="3502152" y="3767328"/>
            <a:ext cx="621792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7" name="colT0"/>
          <p:cNvSpPr txBox="1"/>
          <p:nvPr/>
        </p:nvSpPr>
        <p:spPr>
          <a:xfrm>
            <a:off x="3502152" y="376732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項番</a:t>
            </a:r>
          </a:p>
          <a:p>
            <a:pPr marL="0" indent="0" algn="ctr">
              <a:buNone/>
            </a:pPr>
            <a:r>
              <a:rPr lang="ja-JP" altLang="en-US" sz="1000" dirty="0">
                <a:solidFill>
                  <a:schemeClr val="tx2"/>
                </a:solidFill>
              </a:rPr>
              <a:t>自動</a:t>
            </a:r>
          </a:p>
        </p:txBody>
      </p:sp>
      <p:sp>
        <p:nvSpPr>
          <p:cNvPr id="218" name="col1"/>
          <p:cNvSpPr/>
          <p:nvPr/>
        </p:nvSpPr>
        <p:spPr>
          <a:xfrm>
            <a:off x="4178808" y="3767328"/>
            <a:ext cx="54864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9" name="colT1"/>
          <p:cNvSpPr txBox="1"/>
          <p:nvPr/>
        </p:nvSpPr>
        <p:spPr>
          <a:xfrm>
            <a:off x="4178808" y="3767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No.</a:t>
            </a:r>
          </a:p>
        </p:txBody>
      </p:sp>
      <p:sp>
        <p:nvSpPr>
          <p:cNvPr id="220" name="col2"/>
          <p:cNvSpPr/>
          <p:nvPr/>
        </p:nvSpPr>
        <p:spPr>
          <a:xfrm>
            <a:off x="4782312" y="3767328"/>
            <a:ext cx="621792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1" name="colT2"/>
          <p:cNvSpPr txBox="1"/>
          <p:nvPr/>
        </p:nvSpPr>
        <p:spPr>
          <a:xfrm>
            <a:off x="4782312" y="376732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名前</a:t>
            </a:r>
          </a:p>
        </p:txBody>
      </p:sp>
      <p:sp>
        <p:nvSpPr>
          <p:cNvPr id="222" name="col3"/>
          <p:cNvSpPr/>
          <p:nvPr/>
        </p:nvSpPr>
        <p:spPr>
          <a:xfrm>
            <a:off x="5458968" y="3767328"/>
            <a:ext cx="68580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3" name="colT3"/>
          <p:cNvSpPr txBox="1"/>
          <p:nvPr/>
        </p:nvSpPr>
        <p:spPr>
          <a:xfrm>
            <a:off x="5458968" y="37673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投稿者</a:t>
            </a:r>
          </a:p>
        </p:txBody>
      </p:sp>
      <p:sp>
        <p:nvSpPr>
          <p:cNvPr id="224" name="col4"/>
          <p:cNvSpPr/>
          <p:nvPr/>
        </p:nvSpPr>
        <p:spPr>
          <a:xfrm>
            <a:off x="6199632" y="3767328"/>
            <a:ext cx="621792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5" name="colT4"/>
          <p:cNvSpPr txBox="1"/>
          <p:nvPr/>
        </p:nvSpPr>
        <p:spPr>
          <a:xfrm>
            <a:off x="6199632" y="376732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日付</a:t>
            </a:r>
          </a:p>
        </p:txBody>
      </p:sp>
      <p:sp>
        <p:nvSpPr>
          <p:cNvPr id="226" name="col5"/>
          <p:cNvSpPr/>
          <p:nvPr/>
        </p:nvSpPr>
        <p:spPr>
          <a:xfrm>
            <a:off x="6876288" y="3767328"/>
            <a:ext cx="68580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7" name="colT5"/>
          <p:cNvSpPr txBox="1"/>
          <p:nvPr/>
        </p:nvSpPr>
        <p:spPr>
          <a:xfrm>
            <a:off x="6876288" y="37673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担当者</a:t>
            </a:r>
          </a:p>
        </p:txBody>
      </p:sp>
      <p:sp>
        <p:nvSpPr>
          <p:cNvPr id="228" name="col6"/>
          <p:cNvSpPr/>
          <p:nvPr/>
        </p:nvSpPr>
        <p:spPr>
          <a:xfrm>
            <a:off x="7616952" y="3767328"/>
            <a:ext cx="1078992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9" name="colT6"/>
          <p:cNvSpPr txBox="1"/>
          <p:nvPr/>
        </p:nvSpPr>
        <p:spPr>
          <a:xfrm>
            <a:off x="7616952" y="376732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報告の有無</a:t>
            </a:r>
          </a:p>
          <a:p>
            <a:pPr marL="0" indent="0" algn="ctr">
              <a:buNone/>
            </a:pPr>
            <a:r>
              <a:rPr lang="ja-JP" altLang="en-US" sz="1000" dirty="0">
                <a:solidFill>
                  <a:srgbClr val="C00000"/>
                </a:solidFill>
              </a:rPr>
              <a:t>赤字</a:t>
            </a:r>
          </a:p>
        </p:txBody>
      </p:sp>
      <p:sp>
        <p:nvSpPr>
          <p:cNvPr id="230" name="colsNote"/>
          <p:cNvSpPr txBox="1"/>
          <p:nvPr/>
        </p:nvSpPr>
        <p:spPr>
          <a:xfrm>
            <a:off x="3502152" y="43342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ユーザーは名前のみ。報告の有無は赤字で自動記入されます</a:t>
            </a:r>
          </a:p>
        </p:txBody>
      </p:sp>
      <p:sp>
        <p:nvSpPr>
          <p:cNvPr id="26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19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231" name="pointBody"/>
          <p:cNvSpPr txBox="1"/>
          <p:nvPr/>
        </p:nvSpPr>
        <p:spPr>
          <a:xfrm>
            <a:off x="457200" y="5285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同じNo.がすでにあるときは「登録済み」と出るので、二重に書き込まれません。</a:t>
            </a:r>
          </a:p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間違えたら「今日入力したもの」から取り消せます。新しい投稿がない日は何もしなくてOKです。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見つけた新しい投稿は、その場でサイトから記録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⑦ </a:t>
            </a:r>
            <a:r>
              <a:rPr lang="en-US" sz="2000" b="1" dirty="0" err="1">
                <a:solidFill>
                  <a:schemeClr val="tx1"/>
                </a:solidFill>
              </a:rPr>
              <a:t>ニーズ調査もサイトから（⚙画面）</a:t>
            </a:r>
            <a:endParaRPr lang="en-US" sz="2000" dirty="0"/>
          </a:p>
        </p:txBody>
      </p:sp>
      <p:sp>
        <p:nvSpPr>
          <p:cNvPr id="4" name="badge"/>
          <p:cNvSpPr/>
          <p:nvPr/>
        </p:nvSpPr>
        <p:spPr>
          <a:xfrm>
            <a:off x="274320" y="804672"/>
            <a:ext cx="201168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badge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8696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804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必要なときだけ</a:t>
            </a:r>
            <a:endParaRPr lang="en-US" sz="1400" dirty="0"/>
          </a:p>
        </p:txBody>
      </p:sp>
      <p:pic>
        <p:nvPicPr>
          <p:cNvPr id="201" name="needsCard" descr="ニーズ調査の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463040"/>
            <a:ext cx="2807031" cy="3246120"/>
          </a:xfrm>
          <a:prstGeom prst="rect">
            <a:avLst/>
          </a:prstGeom>
        </p:spPr>
      </p:pic>
      <p:sp>
        <p:nvSpPr>
          <p:cNvPr id="202" name="num1"/>
          <p:cNvSpPr/>
          <p:nvPr/>
        </p:nvSpPr>
        <p:spPr>
          <a:xfrm>
            <a:off x="3429000" y="132588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03" name="numT1"/>
          <p:cNvSpPr txBox="1"/>
          <p:nvPr/>
        </p:nvSpPr>
        <p:spPr>
          <a:xfrm>
            <a:off x="34290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4" name="stepH0"/>
          <p:cNvSpPr txBox="1"/>
          <p:nvPr/>
        </p:nvSpPr>
        <p:spPr>
          <a:xfrm>
            <a:off x="3931920" y="13075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右上の⚙を押す</a:t>
            </a:r>
          </a:p>
        </p:txBody>
      </p:sp>
      <p:sp>
        <p:nvSpPr>
          <p:cNvPr id="205" name="stepD0"/>
          <p:cNvSpPr txBox="1"/>
          <p:nvPr/>
        </p:nvSpPr>
        <p:spPr>
          <a:xfrm>
            <a:off x="3931920" y="16276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「ニーズ調査」の欄に、必要なものがまとまっています</a:t>
            </a:r>
          </a:p>
        </p:txBody>
      </p:sp>
      <p:sp>
        <p:nvSpPr>
          <p:cNvPr id="206" name="num2"/>
          <p:cNvSpPr/>
          <p:nvPr/>
        </p:nvSpPr>
        <p:spPr>
          <a:xfrm>
            <a:off x="3429000" y="198424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07" name="numT2"/>
          <p:cNvSpPr txBox="1"/>
          <p:nvPr/>
        </p:nvSpPr>
        <p:spPr>
          <a:xfrm>
            <a:off x="342900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8" name="stepH1"/>
          <p:cNvSpPr txBox="1"/>
          <p:nvPr/>
        </p:nvSpPr>
        <p:spPr>
          <a:xfrm>
            <a:off x="3931920" y="1965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「ニーズ調査のHP」を開く</a:t>
            </a:r>
          </a:p>
        </p:txBody>
      </p:sp>
      <p:sp>
        <p:nvSpPr>
          <p:cNvPr id="209" name="stepD1"/>
          <p:cNvSpPr txBox="1"/>
          <p:nvPr/>
        </p:nvSpPr>
        <p:spPr>
          <a:xfrm>
            <a:off x="3931920" y="2286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ログイン画面で、ID・PW を「コピー」して貼り付けるだけ</a:t>
            </a:r>
          </a:p>
        </p:txBody>
      </p:sp>
      <p:sp>
        <p:nvSpPr>
          <p:cNvPr id="210" name="num3"/>
          <p:cNvSpPr/>
          <p:nvPr/>
        </p:nvSpPr>
        <p:spPr>
          <a:xfrm>
            <a:off x="3429000" y="264261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1" name="numT3"/>
          <p:cNvSpPr txBox="1"/>
          <p:nvPr/>
        </p:nvSpPr>
        <p:spPr>
          <a:xfrm>
            <a:off x="342900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2" name="stepH2"/>
          <p:cNvSpPr txBox="1"/>
          <p:nvPr/>
        </p:nvSpPr>
        <p:spPr>
          <a:xfrm>
            <a:off x="3931920" y="2624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chemeClr val="tx1"/>
                </a:solidFill>
              </a:rPr>
              <a:t>「ニーズ調査シート」を開く</a:t>
            </a:r>
          </a:p>
        </p:txBody>
      </p:sp>
      <p:sp>
        <p:nvSpPr>
          <p:cNvPr id="213" name="stepD2"/>
          <p:cNvSpPr txBox="1"/>
          <p:nvPr/>
        </p:nvSpPr>
        <p:spPr>
          <a:xfrm>
            <a:off x="3931920" y="2944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スプレッドシートもここからワンタップで開けます</a:t>
            </a:r>
          </a:p>
        </p:txBody>
      </p:sp>
      <p:sp>
        <p:nvSpPr>
          <p:cNvPr id="214" name="colsCard"/>
          <p:cNvSpPr/>
          <p:nvPr/>
        </p:nvSpPr>
        <p:spPr>
          <a:xfrm>
            <a:off x="3429000" y="3310128"/>
            <a:ext cx="5440680" cy="1490472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5" name="colsHead"/>
          <p:cNvSpPr txBox="1"/>
          <p:nvPr/>
        </p:nvSpPr>
        <p:spPr>
          <a:xfrm>
            <a:off x="3593592" y="34198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chemeClr val="accent1"/>
                </a:solidFill>
              </a:rPr>
              <a:t>⚙画面の「ニーズ調査」に表示されるもの</a:t>
            </a:r>
          </a:p>
        </p:txBody>
      </p:sp>
      <p:sp>
        <p:nvSpPr>
          <p:cNvPr id="216" name="col0"/>
          <p:cNvSpPr/>
          <p:nvPr/>
        </p:nvSpPr>
        <p:spPr>
          <a:xfrm>
            <a:off x="3593592" y="3767328"/>
            <a:ext cx="118872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7" name="colT0"/>
          <p:cNvSpPr txBox="1"/>
          <p:nvPr/>
        </p:nvSpPr>
        <p:spPr>
          <a:xfrm>
            <a:off x="3593592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調査シート</a:t>
            </a:r>
          </a:p>
          <a:p>
            <a:pPr marL="0" indent="0" algn="ctr">
              <a:buNone/>
            </a:pPr>
            <a:r>
              <a:rPr lang="ja-JP" altLang="en-US" sz="1000" dirty="0">
                <a:solidFill>
                  <a:schemeClr val="tx2"/>
                </a:solidFill>
              </a:rPr>
              <a:t>リンク</a:t>
            </a:r>
          </a:p>
        </p:txBody>
      </p:sp>
      <p:sp>
        <p:nvSpPr>
          <p:cNvPr id="218" name="col1"/>
          <p:cNvSpPr/>
          <p:nvPr/>
        </p:nvSpPr>
        <p:spPr>
          <a:xfrm>
            <a:off x="4837176" y="3767328"/>
            <a:ext cx="118872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9" name="colT1"/>
          <p:cNvSpPr txBox="1"/>
          <p:nvPr/>
        </p:nvSpPr>
        <p:spPr>
          <a:xfrm>
            <a:off x="4837176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HP</a:t>
            </a:r>
          </a:p>
          <a:p>
            <a:pPr marL="0" indent="0" algn="ctr">
              <a:buNone/>
            </a:pPr>
            <a:r>
              <a:rPr lang="ja-JP" altLang="en-US" sz="1000" dirty="0">
                <a:solidFill>
                  <a:schemeClr val="tx2"/>
                </a:solidFill>
              </a:rPr>
              <a:t>リンク</a:t>
            </a:r>
          </a:p>
        </p:txBody>
      </p:sp>
      <p:sp>
        <p:nvSpPr>
          <p:cNvPr id="220" name="col2"/>
          <p:cNvSpPr/>
          <p:nvPr/>
        </p:nvSpPr>
        <p:spPr>
          <a:xfrm>
            <a:off x="6080760" y="3767328"/>
            <a:ext cx="118872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1" name="colT2"/>
          <p:cNvSpPr txBox="1"/>
          <p:nvPr/>
        </p:nvSpPr>
        <p:spPr>
          <a:xfrm>
            <a:off x="6080760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ID</a:t>
            </a:r>
          </a:p>
          <a:p>
            <a:pPr marL="0" indent="0" algn="ctr">
              <a:buNone/>
            </a:pPr>
            <a:r>
              <a:rPr lang="ja-JP" altLang="en-US" sz="1000" dirty="0">
                <a:solidFill>
                  <a:schemeClr val="tx2"/>
                </a:solidFill>
              </a:rPr>
              <a:t>コピー</a:t>
            </a:r>
          </a:p>
        </p:txBody>
      </p:sp>
      <p:sp>
        <p:nvSpPr>
          <p:cNvPr id="222" name="col3"/>
          <p:cNvSpPr/>
          <p:nvPr/>
        </p:nvSpPr>
        <p:spPr>
          <a:xfrm>
            <a:off x="7324344" y="3767328"/>
            <a:ext cx="118872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3" name="colT3"/>
          <p:cNvSpPr txBox="1"/>
          <p:nvPr/>
        </p:nvSpPr>
        <p:spPr>
          <a:xfrm>
            <a:off x="7324344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PW</a:t>
            </a:r>
          </a:p>
          <a:p>
            <a:pPr marL="0" indent="0" algn="ctr">
              <a:buNone/>
            </a:pPr>
            <a:r>
              <a:rPr lang="ja-JP" altLang="en-US" sz="1000" dirty="0">
                <a:solidFill>
                  <a:schemeClr val="tx2"/>
                </a:solidFill>
              </a:rPr>
              <a:t>表示・コピー</a:t>
            </a:r>
          </a:p>
        </p:txBody>
      </p:sp>
      <p:sp>
        <p:nvSpPr>
          <p:cNvPr id="224" name="colsNote"/>
          <p:cNvSpPr txBox="1"/>
          <p:nvPr/>
        </p:nvSpPr>
        <p:spPr>
          <a:xfrm>
            <a:off x="3593592" y="43342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PW はふだん「••••」で隠れていて、「表示」で確認できます</a:t>
            </a:r>
          </a:p>
        </p:txBody>
      </p:sp>
      <p:sp>
        <p:nvSpPr>
          <p:cNvPr id="26" name="point"/>
          <p:cNvSpPr/>
          <p:nvPr/>
        </p:nvSpPr>
        <p:spPr>
          <a:xfrm>
            <a:off x="274320" y="4937760"/>
            <a:ext cx="85953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19"/>
          <p:cNvSpPr txBox="1"/>
          <p:nvPr/>
        </p:nvSpPr>
        <p:spPr>
          <a:xfrm>
            <a:off x="45720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225" name="pointBody"/>
          <p:cNvSpPr txBox="1"/>
          <p:nvPr/>
        </p:nvSpPr>
        <p:spPr>
          <a:xfrm>
            <a:off x="457200" y="5285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ID・PW はメンバー以外には教えないでください（サイトの公開ファイルには書いていません）。</a:t>
            </a:r>
          </a:p>
          <a:p>
            <a:pPr marL="0" indent="0" algn="l"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ID・PW が変わったときは、Code.gs の NEEDS_LOGIN か「設定」シートを書き換えます。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274320" y="5989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ニーズ調査に必要なものも、⚙からすぐ開ける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T Patrol">
  <a:themeElements>
    <a:clrScheme name="AST Patrol">
      <a:dk1>
        <a:srgbClr val="1A1A1A"/>
      </a:dk1>
      <a:lt1>
        <a:srgbClr val="FFFFFF"/>
      </a:lt1>
      <a:dk2>
        <a:srgbClr val="555555"/>
      </a:dk2>
      <a:lt2>
        <a:srgbClr val="F2F2F2"/>
      </a:lt2>
      <a:accent1>
        <a:srgbClr val="1F4E86"/>
      </a:accent1>
      <a:accent2>
        <a:srgbClr val="0B6B3A"/>
      </a:accent2>
      <a:accent3>
        <a:srgbClr val="A85A18"/>
      </a:accent3>
      <a:accent4>
        <a:srgbClr val="D0D0D0"/>
      </a:accent4>
      <a:accent5>
        <a:srgbClr val="B42318"/>
      </a:accent5>
      <a:accent6>
        <a:srgbClr val="E8EEF5"/>
      </a:accent6>
      <a:hlink>
        <a:srgbClr val="1F4E86"/>
      </a:hlink>
      <a:folHlink>
        <a:srgbClr val="1F4E86"/>
      </a:folHlink>
    </a:clrScheme>
    <a:fontScheme name="AST Patrol">
      <a:majorFont>
        <a:latin typeface="UD デジタル 教科書体 NK-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D デジタル 教科書体 NK-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904</Words>
  <Application>Microsoft Macintosh PowerPoint</Application>
  <PresentationFormat>画面に合わせる (4:3)</PresentationFormat>
  <Paragraphs>236</Paragraphs>
  <Slides>12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4" baseType="lpstr">
      <vt:lpstr>Arial</vt:lpstr>
      <vt:lpstr>AST Patrol</vt:lpstr>
      <vt:lpstr>パトロールシフト管理サイトの導入</vt:lpstr>
      <vt:lpstr>背景：管理者の負担が大きかった</vt:lpstr>
      <vt:lpstr>何が変わるか</vt:lpstr>
      <vt:lpstr>サイトの全体像</vt:lpstr>
      <vt:lpstr>① シフト希望を出す（投票タブ）</vt:lpstr>
      <vt:lpstr>② シフトは自動で作成（シフトタブ）</vt:lpstr>
      <vt:lpstr>③ パトロールしたら完了報告（今日タブ）:リマインド機能を追加予定</vt:lpstr>
      <vt:lpstr>④ 活動実績はボタン1つ（実績タブ）</vt:lpstr>
      <vt:lpstr>⑤ 業務報告書もサイトで作成可能（業務報告タブ）</vt:lpstr>
      <vt:lpstr>1か月の流れ</vt:lpstr>
      <vt:lpstr>今日からのお願い</vt:lpstr>
      <vt:lpstr>チーム用アカウント（サイト管理用）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パトロールシフト管理サイトの導入</dc:title>
  <dc:subject>PptxGenJS Presentation</dc:subject>
  <dc:creator>蔵本 陽向</dc:creator>
  <cp:lastModifiedBy>hinata.kuramoto.0220@keio.jp</cp:lastModifiedBy>
  <cp:revision>6</cp:revision>
  <dcterms:created xsi:type="dcterms:W3CDTF">2026-10-11T11:17:42Z</dcterms:created>
  <dcterms:modified xsi:type="dcterms:W3CDTF">2026-10-11T12:02:45Z</dcterms:modified>
</cp:coreProperties>
</file>